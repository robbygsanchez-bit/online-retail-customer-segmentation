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352"/>
    <a:srgbClr val="CB400B"/>
    <a:srgbClr val="002790"/>
    <a:srgbClr val="FFFFFF"/>
    <a:srgbClr val="BF3D0B"/>
    <a:srgbClr val="FAEBDF"/>
    <a:srgbClr val="EAF1FC"/>
    <a:srgbClr val="EDF0F3"/>
    <a:srgbClr val="0E265D"/>
    <a:srgbClr val="367D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772" autoAdjust="0"/>
  </p:normalViewPr>
  <p:slideViewPr>
    <p:cSldViewPr snapToGrid="0">
      <p:cViewPr>
        <p:scale>
          <a:sx n="125" d="100"/>
          <a:sy n="125" d="100"/>
        </p:scale>
        <p:origin x="15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5200-741C-02C5-6491-0334A025E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D821D-7A0A-D476-D61B-8C026E65C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13F8-EBE7-F781-6852-02FF13E4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87975-FCE9-F231-8452-EEF3E0D5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A127D-68E8-56BC-B907-DACB90F6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31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137D-221C-3D20-F6ED-752E208F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9D664-2A40-E2F6-0780-BAD0E49E1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0249B-30FB-34F2-DA85-2805A38B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7DEBB-719B-6DF0-0C69-D353DE71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9CE79-9BE9-7648-A343-6EDAE1B2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172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A782-06C0-4EE6-5672-25FC56D3F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22F0D-2B1A-473C-212F-768E4BDA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6174-F6C5-200C-1FAD-A8E790EC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EBABF-8791-FF54-4AAD-C9D814AB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1706B-DA44-530B-721A-B8B2DD09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512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7B82-2639-616B-C7EE-F8BE0A9B0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49D7E-A9AF-2EE3-4D78-92537794C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E5C9F-9900-7CD0-8559-F1761635B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753BD-1EDB-136F-CF0B-54ED40B1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31E87-BD09-2AAD-1AC9-E5AA25CB2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A5B20-5299-2137-1BBF-2EBB0D28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9416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7D6E-160B-29CD-E20E-A0DFE0AF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4570F-3B60-AF62-38E7-9C993FF00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6AE5F-D90F-3E98-4E3C-91C5B392E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3A5F7-C736-80FE-85B9-5BCAE6AF9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A387AE-6321-FE2F-85FF-9FECDBDBA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F1B10-2B96-6774-D6EC-59A2C666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5B2A3-01F3-BAEF-7A3C-B14AF001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DF514-C48A-7EAD-7517-A12F740F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383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51B5-8F45-00DE-57C1-E96B25E5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21631-67CB-623C-A332-6D0E78AF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EB738-CBCA-2F9F-4A6C-E4F2D90C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F155BA-1451-84CC-1CDF-14D4C48A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868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95FFA-75D5-62A9-1B31-EB2964C4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3BF7E-CF9B-84E5-65F1-AD9C5A31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90C67-FE9D-6329-E5C0-17B53869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666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74C3-AA67-5AE1-D99E-E11B1560B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3EB32-8F08-CA8E-0F8C-2D24AD98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31173-3270-4A83-3648-1D6A46DDC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156D0-62AB-CFE7-A0C9-64E44058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9D413-B687-DE15-C62E-ED74D413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9E005-D4FE-0FC4-1385-BC3A1D32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7037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EC32-B010-69D1-FA0B-2494DBBC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DADEE-EB5F-1C43-9C9C-A6F1625B5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A334F-1379-DBB7-21B9-5847F8BCA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74F3E-D8CF-01BA-582C-C7CB3FE3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6AF5A-C1A1-ACCE-AB51-AF69C2C7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C2FF5-D908-D49D-A2BB-AEE06D94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608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8861-5257-41C9-C300-EC8BD47EF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C1DB5-664E-2B89-62A6-1442314CD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0256F-3649-992B-AD1D-0028A91C4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50B09-DD49-F8EB-A074-10B56A29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CC129-A75E-29DB-4B50-44EA050B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629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766099-D2E9-5EED-9F76-B6DF03C16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AF423-3F69-0A38-9CE7-8996F6005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B66B-D515-7CA3-4F6C-F0ED18A2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CDD39-63A8-22B6-45AD-22A05852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CF942-0A95-D2E6-7545-DA94C09C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18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AAFDE6-32AF-5021-1436-E8319DB4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4247D-8A5F-7F51-C5C6-C59B61E68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63F2C-B967-4E40-C10C-B7424BBAC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2E7EA-E2A6-4A4C-8A93-2D643EFEEABA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920F-62CA-0D48-3394-504E9519C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085A0-BE87-261B-E2BE-8E81C7C82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BE96B-78B9-41A3-A511-42F69F2C9F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258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4.svg"/><Relationship Id="rId7" Type="http://schemas.openxmlformats.org/officeDocument/2006/relationships/image" Target="../media/image5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4.svg"/><Relationship Id="rId7" Type="http://schemas.openxmlformats.org/officeDocument/2006/relationships/image" Target="../media/image5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40B8-3E5A-1B54-83A6-AACE195A5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5318"/>
            <a:ext cx="9144000" cy="1909763"/>
          </a:xfrm>
        </p:spPr>
        <p:txBody>
          <a:bodyPr/>
          <a:lstStyle/>
          <a:p>
            <a:r>
              <a:rPr lang="en-PH" b="1" dirty="0">
                <a:solidFill>
                  <a:srgbClr val="002342"/>
                </a:solidFill>
              </a:rPr>
              <a:t>Customer Segmentation: From Data to 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A184B-F682-EC5D-2EC1-B9130BF66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55081"/>
            <a:ext cx="9144000" cy="531019"/>
          </a:xfrm>
        </p:spPr>
        <p:txBody>
          <a:bodyPr/>
          <a:lstStyle/>
          <a:p>
            <a:r>
              <a:rPr lang="en-PH" dirty="0">
                <a:solidFill>
                  <a:srgbClr val="2F70CA"/>
                </a:solidFill>
              </a:rPr>
              <a:t>Understanding Customer Engagement and Value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B8720E1-FEA7-3E25-0942-4DD0D310E6BE}"/>
              </a:ext>
            </a:extLst>
          </p:cNvPr>
          <p:cNvSpPr txBox="1">
            <a:spLocks/>
          </p:cNvSpPr>
          <p:nvPr/>
        </p:nvSpPr>
        <p:spPr>
          <a:xfrm>
            <a:off x="4281487" y="3160270"/>
            <a:ext cx="3629025" cy="531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b="1" dirty="0">
                <a:solidFill>
                  <a:srgbClr val="002342"/>
                </a:solidFill>
              </a:rPr>
              <a:t>UCI Online Retail Dataset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24B945-8B0B-44D9-0A93-1201FFDB63C5}"/>
              </a:ext>
            </a:extLst>
          </p:cNvPr>
          <p:cNvSpPr txBox="1">
            <a:spLocks/>
          </p:cNvSpPr>
          <p:nvPr/>
        </p:nvSpPr>
        <p:spPr>
          <a:xfrm>
            <a:off x="2862263" y="3588895"/>
            <a:ext cx="6467474" cy="773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800" dirty="0">
                <a:solidFill>
                  <a:srgbClr val="8E9CA9"/>
                </a:solidFill>
              </a:rPr>
              <a:t>Using customer purchasing behavior to identify distinct customer segments and potential business actions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CF36BA4-BC36-470B-341F-5901D8442156}"/>
              </a:ext>
            </a:extLst>
          </p:cNvPr>
          <p:cNvSpPr/>
          <p:nvPr/>
        </p:nvSpPr>
        <p:spPr>
          <a:xfrm>
            <a:off x="2018274" y="4362450"/>
            <a:ext cx="1687974" cy="1673103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15AFBF88-B152-6AAB-79A0-6B6E59CCB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2649" y="4489389"/>
            <a:ext cx="1419224" cy="1419224"/>
          </a:xfrm>
          <a:prstGeom prst="rect">
            <a:avLst/>
          </a:prstGeom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4ACAE70-A3C8-B241-8A48-F99B0503C600}"/>
              </a:ext>
            </a:extLst>
          </p:cNvPr>
          <p:cNvSpPr/>
          <p:nvPr/>
        </p:nvSpPr>
        <p:spPr>
          <a:xfrm>
            <a:off x="5252012" y="4362450"/>
            <a:ext cx="1687974" cy="1673103"/>
          </a:xfrm>
          <a:prstGeom prst="flowChartConnector">
            <a:avLst/>
          </a:prstGeom>
          <a:solidFill>
            <a:srgbClr val="D6F3E2"/>
          </a:solidFill>
          <a:ln>
            <a:solidFill>
              <a:srgbClr val="D6F3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3274AD5-4D88-430E-DE5F-F9F4561E677F}"/>
              </a:ext>
            </a:extLst>
          </p:cNvPr>
          <p:cNvSpPr/>
          <p:nvPr/>
        </p:nvSpPr>
        <p:spPr>
          <a:xfrm>
            <a:off x="8485750" y="4362450"/>
            <a:ext cx="1687974" cy="1673103"/>
          </a:xfrm>
          <a:prstGeom prst="flowChartConnector">
            <a:avLst/>
          </a:prstGeom>
          <a:solidFill>
            <a:srgbClr val="FCEAD6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8" name="Graphic 17" descr="Bar graph with upward trend with solid fill">
            <a:extLst>
              <a:ext uri="{FF2B5EF4-FFF2-40B4-BE49-F238E27FC236}">
                <a16:creationId xmlns:a16="http://schemas.microsoft.com/office/drawing/2014/main" id="{193ECB3C-0A90-16C4-1F76-5DB6AFE8B2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6139" y="4535403"/>
            <a:ext cx="1327196" cy="1327196"/>
          </a:xfrm>
          <a:prstGeom prst="rect">
            <a:avLst/>
          </a:prstGeom>
        </p:spPr>
      </p:pic>
      <p:pic>
        <p:nvPicPr>
          <p:cNvPr id="20" name="Graphic 19" descr="Users with solid fill">
            <a:extLst>
              <a:ext uri="{FF2B5EF4-FFF2-40B4-BE49-F238E27FC236}">
                <a16:creationId xmlns:a16="http://schemas.microsoft.com/office/drawing/2014/main" id="{1BC2AA26-1894-BB17-C4E8-32FF0B24F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623" y="4429200"/>
            <a:ext cx="1428751" cy="1428751"/>
          </a:xfrm>
          <a:prstGeom prst="rect">
            <a:avLst/>
          </a:prstGeom>
        </p:spPr>
      </p:pic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AE9322D2-A199-D579-6976-A3DC2B451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930" y="4738580"/>
            <a:ext cx="914400" cy="914400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9921591D-F5F0-AD78-48D5-6B8C3C8270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048" y="46863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D032A-7B59-9929-7B4E-8CB9FA2C0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700" y="390525"/>
            <a:ext cx="9118600" cy="1325563"/>
          </a:xfrm>
        </p:spPr>
        <p:txBody>
          <a:bodyPr/>
          <a:lstStyle/>
          <a:p>
            <a:r>
              <a:rPr lang="en-PH" b="1" dirty="0">
                <a:solidFill>
                  <a:srgbClr val="011646"/>
                </a:solidFill>
              </a:rPr>
              <a:t>The Customer Base is Highly Diverse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3DF7CF-ACFD-5269-C2D2-B09237539B40}"/>
              </a:ext>
            </a:extLst>
          </p:cNvPr>
          <p:cNvSpPr txBox="1">
            <a:spLocks/>
          </p:cNvSpPr>
          <p:nvPr/>
        </p:nvSpPr>
        <p:spPr>
          <a:xfrm>
            <a:off x="3282950" y="1310878"/>
            <a:ext cx="5626100" cy="531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b="1" dirty="0">
                <a:solidFill>
                  <a:srgbClr val="115DDF"/>
                </a:solidFill>
              </a:rPr>
              <a:t>Customers Behave Very Differently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88BC8-86C3-3ED6-E22E-6440E497DBF3}"/>
              </a:ext>
            </a:extLst>
          </p:cNvPr>
          <p:cNvSpPr/>
          <p:nvPr/>
        </p:nvSpPr>
        <p:spPr>
          <a:xfrm>
            <a:off x="152400" y="2000250"/>
            <a:ext cx="2844800" cy="1524000"/>
          </a:xfrm>
          <a:prstGeom prst="rect">
            <a:avLst/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400" b="1" dirty="0">
                <a:solidFill>
                  <a:srgbClr val="052771"/>
                </a:solidFill>
              </a:rPr>
              <a:t>4,338</a:t>
            </a:r>
          </a:p>
          <a:p>
            <a:pPr algn="ctr"/>
            <a:r>
              <a:rPr lang="en-PH" sz="2000" dirty="0">
                <a:solidFill>
                  <a:srgbClr val="4F5866"/>
                </a:solidFill>
              </a:rPr>
              <a:t>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63F241-AD77-A273-151C-2CF979F49FB3}"/>
              </a:ext>
            </a:extLst>
          </p:cNvPr>
          <p:cNvSpPr/>
          <p:nvPr/>
        </p:nvSpPr>
        <p:spPr>
          <a:xfrm>
            <a:off x="3149600" y="2000250"/>
            <a:ext cx="2844800" cy="1524000"/>
          </a:xfrm>
          <a:prstGeom prst="rect">
            <a:avLst/>
          </a:prstGeom>
          <a:solidFill>
            <a:srgbClr val="EEF9F3"/>
          </a:solidFill>
          <a:ln>
            <a:solidFill>
              <a:srgbClr val="EEF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400" b="1" dirty="0">
                <a:solidFill>
                  <a:srgbClr val="08373B"/>
                </a:solidFill>
              </a:rPr>
              <a:t>£8.89M</a:t>
            </a:r>
          </a:p>
          <a:p>
            <a:pPr algn="ctr"/>
            <a:r>
              <a:rPr lang="en-PH" sz="2000" dirty="0">
                <a:solidFill>
                  <a:srgbClr val="4F5866"/>
                </a:solidFill>
              </a:rPr>
              <a:t>Total Monetary 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079317-B646-8FD7-0242-ABE2FB929DA3}"/>
              </a:ext>
            </a:extLst>
          </p:cNvPr>
          <p:cNvSpPr/>
          <p:nvPr/>
        </p:nvSpPr>
        <p:spPr>
          <a:xfrm>
            <a:off x="6146800" y="2000250"/>
            <a:ext cx="2844800" cy="1524000"/>
          </a:xfrm>
          <a:prstGeom prst="rect">
            <a:avLst/>
          </a:prstGeom>
          <a:solidFill>
            <a:srgbClr val="FCF5ED"/>
          </a:solidFill>
          <a:ln>
            <a:solidFill>
              <a:srgbClr val="FCF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400" b="1" dirty="0">
                <a:solidFill>
                  <a:srgbClr val="A13F04"/>
                </a:solidFill>
              </a:rPr>
              <a:t>1-374</a:t>
            </a:r>
          </a:p>
          <a:p>
            <a:pPr algn="ctr"/>
            <a:r>
              <a:rPr lang="en-PH" dirty="0">
                <a:solidFill>
                  <a:srgbClr val="4F5866"/>
                </a:solidFill>
              </a:rPr>
              <a:t>Days since last purchase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211295-C74D-4F5E-CC32-F371AFD17AE2}"/>
              </a:ext>
            </a:extLst>
          </p:cNvPr>
          <p:cNvSpPr/>
          <p:nvPr/>
        </p:nvSpPr>
        <p:spPr>
          <a:xfrm>
            <a:off x="9144000" y="2000250"/>
            <a:ext cx="2844800" cy="1524000"/>
          </a:xfrm>
          <a:prstGeom prst="rect">
            <a:avLst/>
          </a:prstGeom>
          <a:solidFill>
            <a:srgbClr val="F0F1FC"/>
          </a:solidFill>
          <a:ln>
            <a:solidFill>
              <a:srgbClr val="EEF4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400" b="1" dirty="0">
                <a:solidFill>
                  <a:srgbClr val="290589"/>
                </a:solidFill>
              </a:rPr>
              <a:t>1-209</a:t>
            </a:r>
          </a:p>
          <a:p>
            <a:pPr algn="ctr"/>
            <a:r>
              <a:rPr lang="en-PH" dirty="0">
                <a:solidFill>
                  <a:srgbClr val="4F5866"/>
                </a:solidFill>
              </a:rPr>
              <a:t>Purchase Frequency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C07137-99CF-B414-1DC8-86A806C88BA3}"/>
              </a:ext>
            </a:extLst>
          </p:cNvPr>
          <p:cNvSpPr txBox="1">
            <a:spLocks/>
          </p:cNvSpPr>
          <p:nvPr/>
        </p:nvSpPr>
        <p:spPr>
          <a:xfrm>
            <a:off x="2301081" y="3808412"/>
            <a:ext cx="7589837" cy="773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dirty="0">
                <a:solidFill>
                  <a:srgbClr val="4F4F62"/>
                </a:solidFill>
              </a:rPr>
              <a:t>A single customer strategy may not effectively address such different purchasing behaviors.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E17CDE-62FD-EF32-E501-43E0AB29C291}"/>
              </a:ext>
            </a:extLst>
          </p:cNvPr>
          <p:cNvCxnSpPr>
            <a:cxnSpLocks/>
          </p:cNvCxnSpPr>
          <p:nvPr/>
        </p:nvCxnSpPr>
        <p:spPr>
          <a:xfrm>
            <a:off x="1022350" y="5854700"/>
            <a:ext cx="10147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Subtitle 2">
            <a:extLst>
              <a:ext uri="{FF2B5EF4-FFF2-40B4-BE49-F238E27FC236}">
                <a16:creationId xmlns:a16="http://schemas.microsoft.com/office/drawing/2014/main" id="{A64B4431-6429-3DAC-3036-B16D530A74A6}"/>
              </a:ext>
            </a:extLst>
          </p:cNvPr>
          <p:cNvSpPr txBox="1">
            <a:spLocks/>
          </p:cNvSpPr>
          <p:nvPr/>
        </p:nvSpPr>
        <p:spPr>
          <a:xfrm>
            <a:off x="853281" y="5936105"/>
            <a:ext cx="2004219" cy="531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800" dirty="0">
                <a:solidFill>
                  <a:srgbClr val="4F4F62"/>
                </a:solidFill>
              </a:rPr>
              <a:t>Low Engagement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C7902F82-F031-4E47-1377-696FF6F61D18}"/>
              </a:ext>
            </a:extLst>
          </p:cNvPr>
          <p:cNvSpPr txBox="1">
            <a:spLocks/>
          </p:cNvSpPr>
          <p:nvPr/>
        </p:nvSpPr>
        <p:spPr>
          <a:xfrm>
            <a:off x="9334500" y="5936105"/>
            <a:ext cx="2004219" cy="531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800" dirty="0">
                <a:solidFill>
                  <a:srgbClr val="4F4F62"/>
                </a:solidFill>
              </a:rPr>
              <a:t>High Engagement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C7920E-05FD-CE4A-2414-CEDE83F9E1C5}"/>
              </a:ext>
            </a:extLst>
          </p:cNvPr>
          <p:cNvSpPr/>
          <p:nvPr/>
        </p:nvSpPr>
        <p:spPr>
          <a:xfrm>
            <a:off x="1326345" y="5560007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3AFAAF7-20B0-5AD5-AC6C-631461487FF2}"/>
              </a:ext>
            </a:extLst>
          </p:cNvPr>
          <p:cNvSpPr/>
          <p:nvPr/>
        </p:nvSpPr>
        <p:spPr>
          <a:xfrm>
            <a:off x="3485257" y="5118543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66B1A15-4DC7-A12A-4B71-635095C7B45E}"/>
              </a:ext>
            </a:extLst>
          </p:cNvPr>
          <p:cNvSpPr/>
          <p:nvPr/>
        </p:nvSpPr>
        <p:spPr>
          <a:xfrm>
            <a:off x="7357228" y="5693504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93B36C-BCDF-9C7F-6CE9-4896B233A163}"/>
              </a:ext>
            </a:extLst>
          </p:cNvPr>
          <p:cNvSpPr/>
          <p:nvPr/>
        </p:nvSpPr>
        <p:spPr>
          <a:xfrm>
            <a:off x="10704669" y="5265314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AA99C13-1BDE-68D2-7001-CC2E144E021C}"/>
              </a:ext>
            </a:extLst>
          </p:cNvPr>
          <p:cNvSpPr/>
          <p:nvPr/>
        </p:nvSpPr>
        <p:spPr>
          <a:xfrm>
            <a:off x="1433669" y="5313609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AB46989-C101-78BD-AA33-95BD21930CBA}"/>
              </a:ext>
            </a:extLst>
          </p:cNvPr>
          <p:cNvSpPr/>
          <p:nvPr/>
        </p:nvSpPr>
        <p:spPr>
          <a:xfrm>
            <a:off x="1523284" y="5535859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0ABB2F7-0407-EC69-FBC7-77C42106AB31}"/>
              </a:ext>
            </a:extLst>
          </p:cNvPr>
          <p:cNvSpPr/>
          <p:nvPr/>
        </p:nvSpPr>
        <p:spPr>
          <a:xfrm>
            <a:off x="1765595" y="5683207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1DF9E75-DDAD-DA74-E20C-40505153BAB2}"/>
              </a:ext>
            </a:extLst>
          </p:cNvPr>
          <p:cNvSpPr/>
          <p:nvPr/>
        </p:nvSpPr>
        <p:spPr>
          <a:xfrm>
            <a:off x="1746159" y="5388514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8357710-2F59-8E0D-E76F-A4A5E5286101}"/>
              </a:ext>
            </a:extLst>
          </p:cNvPr>
          <p:cNvSpPr/>
          <p:nvPr/>
        </p:nvSpPr>
        <p:spPr>
          <a:xfrm>
            <a:off x="1643128" y="5168724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E55109F-CE60-D728-4963-BA11A655289F}"/>
              </a:ext>
            </a:extLst>
          </p:cNvPr>
          <p:cNvSpPr/>
          <p:nvPr/>
        </p:nvSpPr>
        <p:spPr>
          <a:xfrm>
            <a:off x="1248803" y="5370672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D88E2B1-39F6-D8F9-220C-5288F80BCABD}"/>
              </a:ext>
            </a:extLst>
          </p:cNvPr>
          <p:cNvSpPr/>
          <p:nvPr/>
        </p:nvSpPr>
        <p:spPr>
          <a:xfrm>
            <a:off x="1070438" y="5663529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CD6D3D0-179E-5B8C-58D2-9890C8329762}"/>
              </a:ext>
            </a:extLst>
          </p:cNvPr>
          <p:cNvSpPr/>
          <p:nvPr/>
        </p:nvSpPr>
        <p:spPr>
          <a:xfrm>
            <a:off x="1874351" y="5552987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FDD7BB1-D8C9-63B6-A4A8-931F81BB6C8B}"/>
              </a:ext>
            </a:extLst>
          </p:cNvPr>
          <p:cNvSpPr/>
          <p:nvPr/>
        </p:nvSpPr>
        <p:spPr>
          <a:xfrm>
            <a:off x="2012144" y="5695280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C5E31A0-369F-035C-4314-D3921B0EB80E}"/>
              </a:ext>
            </a:extLst>
          </p:cNvPr>
          <p:cNvSpPr/>
          <p:nvPr/>
        </p:nvSpPr>
        <p:spPr>
          <a:xfrm>
            <a:off x="2007133" y="5410199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C0AF19F-DDBD-82D7-192A-03DF188ACB2B}"/>
              </a:ext>
            </a:extLst>
          </p:cNvPr>
          <p:cNvSpPr/>
          <p:nvPr/>
        </p:nvSpPr>
        <p:spPr>
          <a:xfrm>
            <a:off x="1903386" y="5182094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8D76000-AD31-5C60-543F-3901A59966B5}"/>
              </a:ext>
            </a:extLst>
          </p:cNvPr>
          <p:cNvSpPr/>
          <p:nvPr/>
        </p:nvSpPr>
        <p:spPr>
          <a:xfrm>
            <a:off x="2229836" y="5166838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FD27C79-2E5D-9F01-5AF3-AC0360A4B9D4}"/>
              </a:ext>
            </a:extLst>
          </p:cNvPr>
          <p:cNvSpPr/>
          <p:nvPr/>
        </p:nvSpPr>
        <p:spPr>
          <a:xfrm>
            <a:off x="1478745" y="5712407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C1ECEE2-6677-7682-C66D-D8FF4AE2C35F}"/>
              </a:ext>
            </a:extLst>
          </p:cNvPr>
          <p:cNvSpPr/>
          <p:nvPr/>
        </p:nvSpPr>
        <p:spPr>
          <a:xfrm>
            <a:off x="2241784" y="5443140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67613FE-062B-D8E6-14CD-BF9864B35DD0}"/>
              </a:ext>
            </a:extLst>
          </p:cNvPr>
          <p:cNvSpPr/>
          <p:nvPr/>
        </p:nvSpPr>
        <p:spPr>
          <a:xfrm>
            <a:off x="2355044" y="5634912"/>
            <a:ext cx="103031" cy="96590"/>
          </a:xfrm>
          <a:prstGeom prst="ellipse">
            <a:avLst/>
          </a:prstGeom>
          <a:solidFill>
            <a:srgbClr val="3E8BEA"/>
          </a:solidFill>
          <a:ln>
            <a:solidFill>
              <a:srgbClr val="3E8B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E1EDBF7-34C0-1CD7-325B-35FAE2F727EE}"/>
              </a:ext>
            </a:extLst>
          </p:cNvPr>
          <p:cNvSpPr/>
          <p:nvPr/>
        </p:nvSpPr>
        <p:spPr>
          <a:xfrm>
            <a:off x="3296750" y="5621779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A85F60F-DA11-0086-22CE-ADB1AA18907D}"/>
              </a:ext>
            </a:extLst>
          </p:cNvPr>
          <p:cNvSpPr/>
          <p:nvPr/>
        </p:nvSpPr>
        <p:spPr>
          <a:xfrm>
            <a:off x="3433741" y="5345424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D0FE5AE-00D1-939E-2A89-77E725209CF7}"/>
              </a:ext>
            </a:extLst>
          </p:cNvPr>
          <p:cNvSpPr/>
          <p:nvPr/>
        </p:nvSpPr>
        <p:spPr>
          <a:xfrm>
            <a:off x="3511220" y="5550547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D25A992-A16E-732A-78F1-2C8DB8F03A05}"/>
              </a:ext>
            </a:extLst>
          </p:cNvPr>
          <p:cNvSpPr/>
          <p:nvPr/>
        </p:nvSpPr>
        <p:spPr>
          <a:xfrm>
            <a:off x="3677568" y="5245068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340CC7A-D165-5ABD-5FDA-8DC95081502D}"/>
              </a:ext>
            </a:extLst>
          </p:cNvPr>
          <p:cNvSpPr/>
          <p:nvPr/>
        </p:nvSpPr>
        <p:spPr>
          <a:xfrm>
            <a:off x="3694715" y="5370672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4453BF2-E0A2-BCB8-CF97-A85EA74BD7B5}"/>
              </a:ext>
            </a:extLst>
          </p:cNvPr>
          <p:cNvSpPr/>
          <p:nvPr/>
        </p:nvSpPr>
        <p:spPr>
          <a:xfrm>
            <a:off x="3767127" y="5619546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A607123-FFAB-9B53-0571-8985B42C1912}"/>
              </a:ext>
            </a:extLst>
          </p:cNvPr>
          <p:cNvSpPr/>
          <p:nvPr/>
        </p:nvSpPr>
        <p:spPr>
          <a:xfrm>
            <a:off x="3694715" y="5033922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20F31B4-611F-8AA9-F9D7-30261D193A2A}"/>
              </a:ext>
            </a:extLst>
          </p:cNvPr>
          <p:cNvSpPr/>
          <p:nvPr/>
        </p:nvSpPr>
        <p:spPr>
          <a:xfrm>
            <a:off x="3868636" y="5154808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50A169A-0CC8-F0B8-A06B-37532826D384}"/>
              </a:ext>
            </a:extLst>
          </p:cNvPr>
          <p:cNvSpPr/>
          <p:nvPr/>
        </p:nvSpPr>
        <p:spPr>
          <a:xfrm>
            <a:off x="3904173" y="5367497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57C40E7-3A2E-04CB-80B3-11AB5012D99F}"/>
              </a:ext>
            </a:extLst>
          </p:cNvPr>
          <p:cNvSpPr/>
          <p:nvPr/>
        </p:nvSpPr>
        <p:spPr>
          <a:xfrm>
            <a:off x="3988686" y="5522021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2C9A6B4-9D8B-2794-90D9-52584F4107DB}"/>
              </a:ext>
            </a:extLst>
          </p:cNvPr>
          <p:cNvSpPr/>
          <p:nvPr/>
        </p:nvSpPr>
        <p:spPr>
          <a:xfrm>
            <a:off x="3982095" y="5663529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E39A631-11E0-7A39-400E-64876373A67F}"/>
              </a:ext>
            </a:extLst>
          </p:cNvPr>
          <p:cNvSpPr/>
          <p:nvPr/>
        </p:nvSpPr>
        <p:spPr>
          <a:xfrm>
            <a:off x="4027820" y="5046714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9736E40-AA09-786D-42B6-D25CD2ED37F7}"/>
              </a:ext>
            </a:extLst>
          </p:cNvPr>
          <p:cNvSpPr/>
          <p:nvPr/>
        </p:nvSpPr>
        <p:spPr>
          <a:xfrm>
            <a:off x="4098806" y="5259092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7757A7E-A6EF-4563-2044-FAD48A0AAC25}"/>
              </a:ext>
            </a:extLst>
          </p:cNvPr>
          <p:cNvSpPr/>
          <p:nvPr/>
        </p:nvSpPr>
        <p:spPr>
          <a:xfrm>
            <a:off x="4236066" y="5442470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EBA633B-FFD9-CE7F-5CF3-EB29236D2B87}"/>
              </a:ext>
            </a:extLst>
          </p:cNvPr>
          <p:cNvSpPr/>
          <p:nvPr/>
        </p:nvSpPr>
        <p:spPr>
          <a:xfrm>
            <a:off x="4308265" y="5198869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6FFB2B1-554D-3560-2C0A-FE816ACE64E8}"/>
              </a:ext>
            </a:extLst>
          </p:cNvPr>
          <p:cNvSpPr/>
          <p:nvPr/>
        </p:nvSpPr>
        <p:spPr>
          <a:xfrm>
            <a:off x="4210743" y="5598842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DC46C741-2F5E-A76E-5A94-64EE80293FEB}"/>
              </a:ext>
            </a:extLst>
          </p:cNvPr>
          <p:cNvSpPr/>
          <p:nvPr/>
        </p:nvSpPr>
        <p:spPr>
          <a:xfrm>
            <a:off x="4421019" y="5442470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2B01C94-E7DC-D744-44A7-57F383569428}"/>
              </a:ext>
            </a:extLst>
          </p:cNvPr>
          <p:cNvSpPr/>
          <p:nvPr/>
        </p:nvSpPr>
        <p:spPr>
          <a:xfrm>
            <a:off x="4452472" y="5632449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CF007CD-1517-E7AB-76F9-1C435B4589A4}"/>
              </a:ext>
            </a:extLst>
          </p:cNvPr>
          <p:cNvSpPr/>
          <p:nvPr/>
        </p:nvSpPr>
        <p:spPr>
          <a:xfrm>
            <a:off x="4694201" y="5688828"/>
            <a:ext cx="103031" cy="96590"/>
          </a:xfrm>
          <a:prstGeom prst="ellipse">
            <a:avLst/>
          </a:prstGeom>
          <a:solidFill>
            <a:srgbClr val="91E6C6"/>
          </a:solidFill>
          <a:ln>
            <a:solidFill>
              <a:srgbClr val="91E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B76FEA9-0BED-02E1-6D76-F4DC612E9A15}"/>
              </a:ext>
            </a:extLst>
          </p:cNvPr>
          <p:cNvSpPr/>
          <p:nvPr/>
        </p:nvSpPr>
        <p:spPr>
          <a:xfrm>
            <a:off x="7529571" y="5511712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AF72D2A-7EDE-2800-3864-42E169BA24F7}"/>
              </a:ext>
            </a:extLst>
          </p:cNvPr>
          <p:cNvSpPr/>
          <p:nvPr/>
        </p:nvSpPr>
        <p:spPr>
          <a:xfrm>
            <a:off x="7632602" y="5670980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3BDEC56-FC49-30A7-6696-9799ECBD51BB}"/>
              </a:ext>
            </a:extLst>
          </p:cNvPr>
          <p:cNvSpPr/>
          <p:nvPr/>
        </p:nvSpPr>
        <p:spPr>
          <a:xfrm>
            <a:off x="7735633" y="5494756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34C2885-85DE-EB20-451A-7C4099BB28B0}"/>
              </a:ext>
            </a:extLst>
          </p:cNvPr>
          <p:cNvSpPr/>
          <p:nvPr/>
        </p:nvSpPr>
        <p:spPr>
          <a:xfrm>
            <a:off x="7865272" y="5680744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18A30F3-9DDF-D70C-615B-EE8FB5086C24}"/>
              </a:ext>
            </a:extLst>
          </p:cNvPr>
          <p:cNvSpPr/>
          <p:nvPr/>
        </p:nvSpPr>
        <p:spPr>
          <a:xfrm>
            <a:off x="8013208" y="5518397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059456D-5352-2BDD-A896-959FF5A11CB9}"/>
              </a:ext>
            </a:extLst>
          </p:cNvPr>
          <p:cNvSpPr/>
          <p:nvPr/>
        </p:nvSpPr>
        <p:spPr>
          <a:xfrm>
            <a:off x="8076729" y="5709568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0B5BDB9C-1F62-0E8A-5F18-F5CF216E3B21}"/>
              </a:ext>
            </a:extLst>
          </p:cNvPr>
          <p:cNvSpPr/>
          <p:nvPr/>
        </p:nvSpPr>
        <p:spPr>
          <a:xfrm>
            <a:off x="8255662" y="5518397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613680E-7C86-125A-11C5-086ECAFE7CDF}"/>
              </a:ext>
            </a:extLst>
          </p:cNvPr>
          <p:cNvSpPr/>
          <p:nvPr/>
        </p:nvSpPr>
        <p:spPr>
          <a:xfrm>
            <a:off x="8363194" y="5716136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02F9F75-47B5-8AE8-2C30-4DC0D923A47A}"/>
              </a:ext>
            </a:extLst>
          </p:cNvPr>
          <p:cNvSpPr/>
          <p:nvPr/>
        </p:nvSpPr>
        <p:spPr>
          <a:xfrm>
            <a:off x="7733947" y="5286382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C815ACF6-9FFE-0F8D-935C-7F3891959BA9}"/>
              </a:ext>
            </a:extLst>
          </p:cNvPr>
          <p:cNvSpPr/>
          <p:nvPr/>
        </p:nvSpPr>
        <p:spPr>
          <a:xfrm>
            <a:off x="7890179" y="5393719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5047E12F-842D-5630-F417-0D5646F2B705}"/>
              </a:ext>
            </a:extLst>
          </p:cNvPr>
          <p:cNvSpPr/>
          <p:nvPr/>
        </p:nvSpPr>
        <p:spPr>
          <a:xfrm>
            <a:off x="8168191" y="5317342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BD0CFBA3-5FED-803D-C4E8-EA1D5F54FD54}"/>
              </a:ext>
            </a:extLst>
          </p:cNvPr>
          <p:cNvSpPr/>
          <p:nvPr/>
        </p:nvSpPr>
        <p:spPr>
          <a:xfrm>
            <a:off x="7926258" y="5226501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FA2E3E7C-CB44-0D3B-9D00-5A14533D7FB1}"/>
              </a:ext>
            </a:extLst>
          </p:cNvPr>
          <p:cNvSpPr/>
          <p:nvPr/>
        </p:nvSpPr>
        <p:spPr>
          <a:xfrm>
            <a:off x="7513965" y="5303845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D1F733D9-48FF-5150-95E7-6D571254D14B}"/>
              </a:ext>
            </a:extLst>
          </p:cNvPr>
          <p:cNvSpPr/>
          <p:nvPr/>
        </p:nvSpPr>
        <p:spPr>
          <a:xfrm>
            <a:off x="8414709" y="5293363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900A130-D20C-1E1F-FB96-B080318B1BE0}"/>
              </a:ext>
            </a:extLst>
          </p:cNvPr>
          <p:cNvSpPr/>
          <p:nvPr/>
        </p:nvSpPr>
        <p:spPr>
          <a:xfrm>
            <a:off x="8149298" y="5109627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49D7F83-A109-4AFF-9205-43AC24A1D2B4}"/>
              </a:ext>
            </a:extLst>
          </p:cNvPr>
          <p:cNvSpPr/>
          <p:nvPr/>
        </p:nvSpPr>
        <p:spPr>
          <a:xfrm>
            <a:off x="7740570" y="5033922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E73E1221-C80B-3190-A691-646178EC9B84}"/>
              </a:ext>
            </a:extLst>
          </p:cNvPr>
          <p:cNvSpPr/>
          <p:nvPr/>
        </p:nvSpPr>
        <p:spPr>
          <a:xfrm>
            <a:off x="7971011" y="5040608"/>
            <a:ext cx="103031" cy="96590"/>
          </a:xfrm>
          <a:prstGeom prst="ellipse">
            <a:avLst/>
          </a:prstGeom>
          <a:solidFill>
            <a:srgbClr val="FCD361"/>
          </a:solidFill>
          <a:ln>
            <a:solidFill>
              <a:srgbClr val="FCD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555985BC-0FB4-9565-95DB-0272ACB19A73}"/>
              </a:ext>
            </a:extLst>
          </p:cNvPr>
          <p:cNvSpPr/>
          <p:nvPr/>
        </p:nvSpPr>
        <p:spPr>
          <a:xfrm>
            <a:off x="10514884" y="5424734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66751BE3-5BFF-73F7-6088-179FC9AFF158}"/>
              </a:ext>
            </a:extLst>
          </p:cNvPr>
          <p:cNvSpPr/>
          <p:nvPr/>
        </p:nvSpPr>
        <p:spPr>
          <a:xfrm>
            <a:off x="10840166" y="5416753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A7B82051-AEF2-8212-CDAE-49706084BC55}"/>
              </a:ext>
            </a:extLst>
          </p:cNvPr>
          <p:cNvSpPr/>
          <p:nvPr/>
        </p:nvSpPr>
        <p:spPr>
          <a:xfrm>
            <a:off x="10681337" y="5475228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6CC8A44F-BBA2-4016-6B7D-69528A7C762B}"/>
              </a:ext>
            </a:extLst>
          </p:cNvPr>
          <p:cNvSpPr/>
          <p:nvPr/>
        </p:nvSpPr>
        <p:spPr>
          <a:xfrm>
            <a:off x="10360338" y="5501589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58E3743D-6F75-0B20-398D-39581582CA65}"/>
              </a:ext>
            </a:extLst>
          </p:cNvPr>
          <p:cNvSpPr/>
          <p:nvPr/>
        </p:nvSpPr>
        <p:spPr>
          <a:xfrm>
            <a:off x="10921186" y="5611021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5F1714FD-E1D4-500E-4992-D5B765155E39}"/>
              </a:ext>
            </a:extLst>
          </p:cNvPr>
          <p:cNvSpPr/>
          <p:nvPr/>
        </p:nvSpPr>
        <p:spPr>
          <a:xfrm>
            <a:off x="10655300" y="5621779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1F134DD-C779-E65B-3B60-2CEE22AF4677}"/>
              </a:ext>
            </a:extLst>
          </p:cNvPr>
          <p:cNvSpPr/>
          <p:nvPr/>
        </p:nvSpPr>
        <p:spPr>
          <a:xfrm>
            <a:off x="10470841" y="5598426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48E9CC0-6A61-D867-884C-375F293BC7AE}"/>
              </a:ext>
            </a:extLst>
          </p:cNvPr>
          <p:cNvSpPr/>
          <p:nvPr/>
        </p:nvSpPr>
        <p:spPr>
          <a:xfrm>
            <a:off x="10800359" y="5694241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FD0AB73-8965-F22F-71EA-1728BAAD43A0}"/>
              </a:ext>
            </a:extLst>
          </p:cNvPr>
          <p:cNvSpPr/>
          <p:nvPr/>
        </p:nvSpPr>
        <p:spPr>
          <a:xfrm>
            <a:off x="10539952" y="5707616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2E685292-9687-1F46-6020-CB40B35268BE}"/>
              </a:ext>
            </a:extLst>
          </p:cNvPr>
          <p:cNvSpPr/>
          <p:nvPr/>
        </p:nvSpPr>
        <p:spPr>
          <a:xfrm>
            <a:off x="10291240" y="5650796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43E4E59-671E-5B1B-F791-48A324D7D720}"/>
              </a:ext>
            </a:extLst>
          </p:cNvPr>
          <p:cNvSpPr/>
          <p:nvPr/>
        </p:nvSpPr>
        <p:spPr>
          <a:xfrm>
            <a:off x="10082348" y="5702624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BFF0176D-477A-8E10-7D39-1466E5BFF648}"/>
              </a:ext>
            </a:extLst>
          </p:cNvPr>
          <p:cNvSpPr/>
          <p:nvPr/>
        </p:nvSpPr>
        <p:spPr>
          <a:xfrm>
            <a:off x="11056598" y="5359690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9A04555B-4BB9-B750-5838-1828695E835D}"/>
              </a:ext>
            </a:extLst>
          </p:cNvPr>
          <p:cNvSpPr/>
          <p:nvPr/>
        </p:nvSpPr>
        <p:spPr>
          <a:xfrm>
            <a:off x="10882688" y="5257333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0313229B-BD04-1718-1036-FEE7C2E3BBD0}"/>
              </a:ext>
            </a:extLst>
          </p:cNvPr>
          <p:cNvSpPr/>
          <p:nvPr/>
        </p:nvSpPr>
        <p:spPr>
          <a:xfrm>
            <a:off x="10514884" y="5249870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E0D4807-FCC7-2574-BD42-704C4640BAA7}"/>
              </a:ext>
            </a:extLst>
          </p:cNvPr>
          <p:cNvSpPr/>
          <p:nvPr/>
        </p:nvSpPr>
        <p:spPr>
          <a:xfrm>
            <a:off x="10359977" y="5314267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15DE295-E0CF-735D-63B7-D76A1D116CCA}"/>
              </a:ext>
            </a:extLst>
          </p:cNvPr>
          <p:cNvSpPr/>
          <p:nvPr/>
        </p:nvSpPr>
        <p:spPr>
          <a:xfrm>
            <a:off x="10182980" y="5513343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13258E5-0440-4A1F-257C-345A14770A81}"/>
              </a:ext>
            </a:extLst>
          </p:cNvPr>
          <p:cNvSpPr/>
          <p:nvPr/>
        </p:nvSpPr>
        <p:spPr>
          <a:xfrm>
            <a:off x="10619339" y="5109001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C296D86-6C1F-FE0D-14E3-0990A18BD6A9}"/>
              </a:ext>
            </a:extLst>
          </p:cNvPr>
          <p:cNvSpPr/>
          <p:nvPr/>
        </p:nvSpPr>
        <p:spPr>
          <a:xfrm>
            <a:off x="10780523" y="5153900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ED77BAE2-094C-B339-6700-5CACD5BB7B3D}"/>
              </a:ext>
            </a:extLst>
          </p:cNvPr>
          <p:cNvSpPr/>
          <p:nvPr/>
        </p:nvSpPr>
        <p:spPr>
          <a:xfrm>
            <a:off x="10958187" y="5109627"/>
            <a:ext cx="103031" cy="96590"/>
          </a:xfrm>
          <a:prstGeom prst="ellipse">
            <a:avLst/>
          </a:prstGeom>
          <a:solidFill>
            <a:srgbClr val="E97351"/>
          </a:solidFill>
          <a:ln>
            <a:solidFill>
              <a:srgbClr val="E9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7607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712C-443F-7FF2-C9FD-C0E986D2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7203-4FB3-E6C8-3513-065132D6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224" y="88749"/>
            <a:ext cx="9658351" cy="1325563"/>
          </a:xfrm>
        </p:spPr>
        <p:txBody>
          <a:bodyPr/>
          <a:lstStyle/>
          <a:p>
            <a:r>
              <a:rPr lang="en-PH" b="1" dirty="0">
                <a:solidFill>
                  <a:srgbClr val="011646"/>
                </a:solidFill>
              </a:rPr>
              <a:t>Two Distinct Customer Groups Emerged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AE60C80-BECB-A66D-01FF-6627A376A4EF}"/>
              </a:ext>
            </a:extLst>
          </p:cNvPr>
          <p:cNvSpPr txBox="1">
            <a:spLocks/>
          </p:cNvSpPr>
          <p:nvPr/>
        </p:nvSpPr>
        <p:spPr>
          <a:xfrm>
            <a:off x="2152648" y="941875"/>
            <a:ext cx="7886702" cy="522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b="1" dirty="0">
                <a:solidFill>
                  <a:srgbClr val="64758F"/>
                </a:solidFill>
              </a:rPr>
              <a:t>The Analysis Identified Two Customer Profiles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48BF30-2283-EB47-8452-3B36EE327AA0}"/>
              </a:ext>
            </a:extLst>
          </p:cNvPr>
          <p:cNvSpPr/>
          <p:nvPr/>
        </p:nvSpPr>
        <p:spPr>
          <a:xfrm>
            <a:off x="6286502" y="1414312"/>
            <a:ext cx="5521326" cy="4955934"/>
          </a:xfrm>
          <a:prstGeom prst="rect">
            <a:avLst/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 dirty="0">
              <a:solidFill>
                <a:srgbClr val="4F5866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47C20A-1470-7851-9F51-7FA58AAD1A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4174" y="1470266"/>
            <a:ext cx="5521326" cy="4955934"/>
          </a:xfrm>
          <a:prstGeom prst="rect">
            <a:avLst/>
          </a:prstGeom>
          <a:solidFill>
            <a:srgbClr val="FCF5ED"/>
          </a:solidFill>
          <a:ln>
            <a:solidFill>
              <a:srgbClr val="FCF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rgbClr val="4F5866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79AA5EC-6CF7-CDDB-631D-8A4E9CA1AC77}"/>
              </a:ext>
            </a:extLst>
          </p:cNvPr>
          <p:cNvSpPr/>
          <p:nvPr/>
        </p:nvSpPr>
        <p:spPr>
          <a:xfrm>
            <a:off x="6663970" y="1698271"/>
            <a:ext cx="1164194" cy="1138333"/>
          </a:xfrm>
          <a:prstGeom prst="flowChartConnector">
            <a:avLst/>
          </a:prstGeom>
          <a:solidFill>
            <a:srgbClr val="B5D7F7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FC73B9C-312A-1E6F-15E0-B54448AB0248}"/>
              </a:ext>
            </a:extLst>
          </p:cNvPr>
          <p:cNvSpPr/>
          <p:nvPr/>
        </p:nvSpPr>
        <p:spPr>
          <a:xfrm>
            <a:off x="664903" y="1749524"/>
            <a:ext cx="1164194" cy="1138333"/>
          </a:xfrm>
          <a:prstGeom prst="flowChartConnector">
            <a:avLst/>
          </a:prstGeom>
          <a:solidFill>
            <a:srgbClr val="FCBD83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4" name="Graphic 13" descr="Users with solid fill">
            <a:extLst>
              <a:ext uri="{FF2B5EF4-FFF2-40B4-BE49-F238E27FC236}">
                <a16:creationId xmlns:a16="http://schemas.microsoft.com/office/drawing/2014/main" id="{4B4F6816-D067-4AA8-E3A2-9B34C89FB7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437" y="1834127"/>
            <a:ext cx="969125" cy="969125"/>
          </a:xfrm>
          <a:prstGeom prst="rect">
            <a:avLst/>
          </a:prstGeom>
        </p:spPr>
      </p:pic>
      <p:pic>
        <p:nvPicPr>
          <p:cNvPr id="16" name="Graphic 15" descr="Users with solid fill">
            <a:extLst>
              <a:ext uri="{FF2B5EF4-FFF2-40B4-BE49-F238E27FC236}">
                <a16:creationId xmlns:a16="http://schemas.microsoft.com/office/drawing/2014/main" id="{658BF605-083C-63A5-7D85-5F0A9387D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504" y="1782874"/>
            <a:ext cx="969125" cy="969125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7F77B6A5-2447-52D9-768C-9CC45B41E64C}"/>
              </a:ext>
            </a:extLst>
          </p:cNvPr>
          <p:cNvSpPr txBox="1">
            <a:spLocks/>
          </p:cNvSpPr>
          <p:nvPr/>
        </p:nvSpPr>
        <p:spPr>
          <a:xfrm>
            <a:off x="1802529" y="2141292"/>
            <a:ext cx="3629025" cy="53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b="1" dirty="0">
                <a:solidFill>
                  <a:srgbClr val="C95D22"/>
                </a:solidFill>
              </a:rPr>
              <a:t>Lower-Engagement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4AE9E0D8-2729-30DF-582C-CBD6DC838AAA}"/>
              </a:ext>
            </a:extLst>
          </p:cNvPr>
          <p:cNvSpPr txBox="1">
            <a:spLocks/>
          </p:cNvSpPr>
          <p:nvPr/>
        </p:nvSpPr>
        <p:spPr>
          <a:xfrm>
            <a:off x="7750895" y="2051774"/>
            <a:ext cx="3629025" cy="531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b="1" dirty="0">
                <a:solidFill>
                  <a:srgbClr val="0257A6"/>
                </a:solidFill>
              </a:rPr>
              <a:t>Higher-Engagement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E274EF-413B-2973-C733-4F050012B121}"/>
              </a:ext>
            </a:extLst>
          </p:cNvPr>
          <p:cNvCxnSpPr>
            <a:cxnSpLocks/>
          </p:cNvCxnSpPr>
          <p:nvPr/>
        </p:nvCxnSpPr>
        <p:spPr>
          <a:xfrm>
            <a:off x="762437" y="3052693"/>
            <a:ext cx="4695684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FAEBAF-ED76-2B80-753E-355EF20D6CA2}"/>
              </a:ext>
            </a:extLst>
          </p:cNvPr>
          <p:cNvCxnSpPr>
            <a:cxnSpLocks/>
          </p:cNvCxnSpPr>
          <p:nvPr/>
        </p:nvCxnSpPr>
        <p:spPr>
          <a:xfrm>
            <a:off x="6761504" y="3052693"/>
            <a:ext cx="4695684" cy="0"/>
          </a:xfrm>
          <a:prstGeom prst="line">
            <a:avLst/>
          </a:prstGeom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ubtitle 2">
            <a:extLst>
              <a:ext uri="{FF2B5EF4-FFF2-40B4-BE49-F238E27FC236}">
                <a16:creationId xmlns:a16="http://schemas.microsoft.com/office/drawing/2014/main" id="{AD31C054-1A5B-22ED-039B-F4EC88E3D1E6}"/>
              </a:ext>
            </a:extLst>
          </p:cNvPr>
          <p:cNvSpPr txBox="1">
            <a:spLocks/>
          </p:cNvSpPr>
          <p:nvPr/>
        </p:nvSpPr>
        <p:spPr>
          <a:xfrm>
            <a:off x="744330" y="3247346"/>
            <a:ext cx="2116397" cy="113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600" b="1" dirty="0">
                <a:solidFill>
                  <a:srgbClr val="C95D22"/>
                </a:solidFill>
              </a:rPr>
              <a:t>2,519</a:t>
            </a:r>
          </a:p>
          <a:p>
            <a:r>
              <a:rPr lang="en-PH" sz="1600" b="1" dirty="0">
                <a:solidFill>
                  <a:srgbClr val="64758F"/>
                </a:solidFill>
              </a:rPr>
              <a:t>customers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6A5684AF-9C4D-BD6B-1297-9356956F8F3B}"/>
              </a:ext>
            </a:extLst>
          </p:cNvPr>
          <p:cNvSpPr txBox="1">
            <a:spLocks/>
          </p:cNvSpPr>
          <p:nvPr/>
        </p:nvSpPr>
        <p:spPr>
          <a:xfrm>
            <a:off x="3341724" y="3247346"/>
            <a:ext cx="2116397" cy="113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600" b="1" dirty="0">
                <a:solidFill>
                  <a:srgbClr val="C95D22"/>
                </a:solidFill>
              </a:rPr>
              <a:t>58.07%</a:t>
            </a:r>
          </a:p>
          <a:p>
            <a:r>
              <a:rPr lang="en-PH" sz="1600" b="1" dirty="0">
                <a:solidFill>
                  <a:srgbClr val="64758F"/>
                </a:solidFill>
              </a:rPr>
              <a:t>of total customers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FC89209-0656-1BBD-B5C7-58B4442E3DDF}"/>
              </a:ext>
            </a:extLst>
          </p:cNvPr>
          <p:cNvCxnSpPr>
            <a:cxnSpLocks/>
          </p:cNvCxnSpPr>
          <p:nvPr/>
        </p:nvCxnSpPr>
        <p:spPr>
          <a:xfrm>
            <a:off x="3109058" y="3164958"/>
            <a:ext cx="0" cy="1090591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686E912E-8C63-B12B-49FD-5D4994AF4AAC}"/>
              </a:ext>
            </a:extLst>
          </p:cNvPr>
          <p:cNvSpPr/>
          <p:nvPr/>
        </p:nvSpPr>
        <p:spPr>
          <a:xfrm>
            <a:off x="743131" y="4208693"/>
            <a:ext cx="653559" cy="647294"/>
          </a:xfrm>
          <a:prstGeom prst="flowChartConnector">
            <a:avLst/>
          </a:prstGeom>
          <a:solidFill>
            <a:srgbClr val="FCBD83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D26A5B4C-A853-5DE6-FFA1-7AFC4DB5426C}"/>
              </a:ext>
            </a:extLst>
          </p:cNvPr>
          <p:cNvSpPr/>
          <p:nvPr/>
        </p:nvSpPr>
        <p:spPr>
          <a:xfrm>
            <a:off x="763636" y="4969804"/>
            <a:ext cx="653559" cy="647294"/>
          </a:xfrm>
          <a:prstGeom prst="flowChartConnector">
            <a:avLst/>
          </a:prstGeom>
          <a:solidFill>
            <a:srgbClr val="FCBD83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868AD9C5-5B95-4709-3022-301459A8056F}"/>
              </a:ext>
            </a:extLst>
          </p:cNvPr>
          <p:cNvSpPr/>
          <p:nvPr/>
        </p:nvSpPr>
        <p:spPr>
          <a:xfrm>
            <a:off x="761237" y="5730915"/>
            <a:ext cx="653559" cy="647294"/>
          </a:xfrm>
          <a:prstGeom prst="flowChartConnector">
            <a:avLst/>
          </a:prstGeom>
          <a:solidFill>
            <a:srgbClr val="FCBD83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B93E3F4C-14A6-FD05-0FE9-A953D48830E2}"/>
              </a:ext>
            </a:extLst>
          </p:cNvPr>
          <p:cNvSpPr txBox="1">
            <a:spLocks/>
          </p:cNvSpPr>
          <p:nvPr/>
        </p:nvSpPr>
        <p:spPr>
          <a:xfrm>
            <a:off x="1415996" y="4208693"/>
            <a:ext cx="2116398" cy="8090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136 days</a:t>
            </a:r>
          </a:p>
          <a:p>
            <a:pPr algn="l">
              <a:lnSpc>
                <a:spcPct val="100000"/>
              </a:lnSpc>
            </a:pPr>
            <a:r>
              <a:rPr lang="en-PH" sz="1600" dirty="0">
                <a:solidFill>
                  <a:srgbClr val="10183E"/>
                </a:solidFill>
              </a:rPr>
              <a:t>Average Recency</a:t>
            </a:r>
            <a:endParaRPr lang="en-PH" sz="900" dirty="0">
              <a:solidFill>
                <a:srgbClr val="10183E"/>
              </a:solidFill>
            </a:endParaRPr>
          </a:p>
        </p:txBody>
      </p:sp>
      <p:sp>
        <p:nvSpPr>
          <p:cNvPr id="64" name="Subtitle 2">
            <a:extLst>
              <a:ext uri="{FF2B5EF4-FFF2-40B4-BE49-F238E27FC236}">
                <a16:creationId xmlns:a16="http://schemas.microsoft.com/office/drawing/2014/main" id="{BDB96D10-5F0B-CDB4-1A5D-31B3EBA20797}"/>
              </a:ext>
            </a:extLst>
          </p:cNvPr>
          <p:cNvSpPr txBox="1">
            <a:spLocks/>
          </p:cNvSpPr>
          <p:nvPr/>
        </p:nvSpPr>
        <p:spPr>
          <a:xfrm>
            <a:off x="1396690" y="4912897"/>
            <a:ext cx="2116398" cy="8090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1.55</a:t>
            </a:r>
          </a:p>
          <a:p>
            <a:pPr algn="l">
              <a:lnSpc>
                <a:spcPct val="100000"/>
              </a:lnSpc>
            </a:pPr>
            <a:r>
              <a:rPr lang="en-PH" sz="1600" dirty="0">
                <a:solidFill>
                  <a:srgbClr val="10183E"/>
                </a:solidFill>
              </a:rPr>
              <a:t>Average purchases</a:t>
            </a:r>
            <a:endParaRPr lang="en-PH" sz="900" dirty="0">
              <a:solidFill>
                <a:srgbClr val="10183E"/>
              </a:solidFill>
            </a:endParaRPr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CC76AA6B-B49F-8708-23FD-20CA200FD669}"/>
              </a:ext>
            </a:extLst>
          </p:cNvPr>
          <p:cNvSpPr txBox="1">
            <a:spLocks/>
          </p:cNvSpPr>
          <p:nvPr/>
        </p:nvSpPr>
        <p:spPr>
          <a:xfrm>
            <a:off x="1415996" y="5675138"/>
            <a:ext cx="2116398" cy="8090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£436 </a:t>
            </a:r>
          </a:p>
          <a:p>
            <a:pPr algn="l">
              <a:lnSpc>
                <a:spcPct val="100000"/>
              </a:lnSpc>
            </a:pPr>
            <a:r>
              <a:rPr lang="en-PH" sz="1600" dirty="0">
                <a:solidFill>
                  <a:srgbClr val="10183E"/>
                </a:solidFill>
              </a:rPr>
              <a:t>Average monetary value</a:t>
            </a:r>
            <a:endParaRPr lang="en-PH" sz="900" dirty="0">
              <a:solidFill>
                <a:srgbClr val="10183E"/>
              </a:solidFill>
            </a:endParaRPr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6664A673-7163-F26C-9B7A-64E30E32B325}"/>
              </a:ext>
            </a:extLst>
          </p:cNvPr>
          <p:cNvSpPr/>
          <p:nvPr/>
        </p:nvSpPr>
        <p:spPr>
          <a:xfrm>
            <a:off x="6589354" y="4167056"/>
            <a:ext cx="653559" cy="647294"/>
          </a:xfrm>
          <a:prstGeom prst="flowChartConnector">
            <a:avLst/>
          </a:prstGeom>
          <a:solidFill>
            <a:srgbClr val="C5DCFB"/>
          </a:solidFill>
          <a:ln>
            <a:solidFill>
              <a:srgbClr val="C5DC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3389D627-2C38-44CE-A2A0-FDCBE11275E6}"/>
              </a:ext>
            </a:extLst>
          </p:cNvPr>
          <p:cNvSpPr/>
          <p:nvPr/>
        </p:nvSpPr>
        <p:spPr>
          <a:xfrm>
            <a:off x="6609859" y="4928167"/>
            <a:ext cx="653559" cy="647294"/>
          </a:xfrm>
          <a:prstGeom prst="flowChartConnector">
            <a:avLst/>
          </a:prstGeom>
          <a:solidFill>
            <a:srgbClr val="C5DCFB"/>
          </a:solidFill>
          <a:ln>
            <a:solidFill>
              <a:srgbClr val="C5DC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52478EC4-504E-6521-F04E-CD9603722EC5}"/>
              </a:ext>
            </a:extLst>
          </p:cNvPr>
          <p:cNvSpPr/>
          <p:nvPr/>
        </p:nvSpPr>
        <p:spPr>
          <a:xfrm>
            <a:off x="6607460" y="5689278"/>
            <a:ext cx="653559" cy="647294"/>
          </a:xfrm>
          <a:prstGeom prst="flowChartConnector">
            <a:avLst/>
          </a:prstGeom>
          <a:solidFill>
            <a:srgbClr val="C5DCFB"/>
          </a:solidFill>
          <a:ln>
            <a:solidFill>
              <a:srgbClr val="C5DC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4" name="Subtitle 2">
            <a:extLst>
              <a:ext uri="{FF2B5EF4-FFF2-40B4-BE49-F238E27FC236}">
                <a16:creationId xmlns:a16="http://schemas.microsoft.com/office/drawing/2014/main" id="{9EC4019A-3899-FA59-46D8-0E2B96C18DA6}"/>
              </a:ext>
            </a:extLst>
          </p:cNvPr>
          <p:cNvSpPr txBox="1">
            <a:spLocks/>
          </p:cNvSpPr>
          <p:nvPr/>
        </p:nvSpPr>
        <p:spPr>
          <a:xfrm>
            <a:off x="7262219" y="4167056"/>
            <a:ext cx="2116398" cy="8090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32 days</a:t>
            </a:r>
          </a:p>
          <a:p>
            <a:pPr algn="l">
              <a:lnSpc>
                <a:spcPct val="100000"/>
              </a:lnSpc>
            </a:pPr>
            <a:r>
              <a:rPr lang="en-PH" sz="1600" dirty="0">
                <a:solidFill>
                  <a:srgbClr val="10183E"/>
                </a:solidFill>
              </a:rPr>
              <a:t>Average Recency</a:t>
            </a:r>
            <a:endParaRPr lang="en-PH" sz="900" dirty="0">
              <a:solidFill>
                <a:srgbClr val="10183E"/>
              </a:solidFill>
            </a:endParaRPr>
          </a:p>
        </p:txBody>
      </p:sp>
      <p:sp>
        <p:nvSpPr>
          <p:cNvPr id="88" name="Subtitle 2">
            <a:extLst>
              <a:ext uri="{FF2B5EF4-FFF2-40B4-BE49-F238E27FC236}">
                <a16:creationId xmlns:a16="http://schemas.microsoft.com/office/drawing/2014/main" id="{66E11DDD-15EA-9E8C-34A1-7F2EC84593AC}"/>
              </a:ext>
            </a:extLst>
          </p:cNvPr>
          <p:cNvSpPr txBox="1">
            <a:spLocks/>
          </p:cNvSpPr>
          <p:nvPr/>
        </p:nvSpPr>
        <p:spPr>
          <a:xfrm>
            <a:off x="7242913" y="4871260"/>
            <a:ext cx="2116398" cy="8090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8.04</a:t>
            </a:r>
          </a:p>
          <a:p>
            <a:pPr algn="l">
              <a:lnSpc>
                <a:spcPct val="100000"/>
              </a:lnSpc>
            </a:pPr>
            <a:r>
              <a:rPr lang="en-PH" sz="1600" dirty="0">
                <a:solidFill>
                  <a:srgbClr val="10183E"/>
                </a:solidFill>
              </a:rPr>
              <a:t>Average purchases</a:t>
            </a:r>
            <a:endParaRPr lang="en-PH" sz="900" dirty="0">
              <a:solidFill>
                <a:srgbClr val="10183E"/>
              </a:solidFill>
            </a:endParaRPr>
          </a:p>
        </p:txBody>
      </p:sp>
      <p:sp>
        <p:nvSpPr>
          <p:cNvPr id="92" name="Subtitle 2">
            <a:extLst>
              <a:ext uri="{FF2B5EF4-FFF2-40B4-BE49-F238E27FC236}">
                <a16:creationId xmlns:a16="http://schemas.microsoft.com/office/drawing/2014/main" id="{36F4FC7D-8320-26AA-AC9D-282A533799EF}"/>
              </a:ext>
            </a:extLst>
          </p:cNvPr>
          <p:cNvSpPr txBox="1">
            <a:spLocks/>
          </p:cNvSpPr>
          <p:nvPr/>
        </p:nvSpPr>
        <p:spPr>
          <a:xfrm>
            <a:off x="7262219" y="5633501"/>
            <a:ext cx="2116398" cy="8090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£4,282 </a:t>
            </a:r>
          </a:p>
          <a:p>
            <a:pPr algn="l">
              <a:lnSpc>
                <a:spcPct val="100000"/>
              </a:lnSpc>
            </a:pPr>
            <a:r>
              <a:rPr lang="en-PH" sz="1600" dirty="0">
                <a:solidFill>
                  <a:srgbClr val="10183E"/>
                </a:solidFill>
              </a:rPr>
              <a:t>Average monetary value</a:t>
            </a:r>
            <a:endParaRPr lang="en-PH" sz="900" dirty="0">
              <a:solidFill>
                <a:srgbClr val="10183E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A3D9335-9608-13E3-C885-C628F300942E}"/>
              </a:ext>
            </a:extLst>
          </p:cNvPr>
          <p:cNvCxnSpPr>
            <a:cxnSpLocks/>
          </p:cNvCxnSpPr>
          <p:nvPr/>
        </p:nvCxnSpPr>
        <p:spPr>
          <a:xfrm>
            <a:off x="9138383" y="3118102"/>
            <a:ext cx="0" cy="1090591"/>
          </a:xfrm>
          <a:prstGeom prst="line">
            <a:avLst/>
          </a:prstGeom>
          <a:ln>
            <a:solidFill>
              <a:srgbClr val="C5DC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Subtitle 2">
            <a:extLst>
              <a:ext uri="{FF2B5EF4-FFF2-40B4-BE49-F238E27FC236}">
                <a16:creationId xmlns:a16="http://schemas.microsoft.com/office/drawing/2014/main" id="{68F3F719-EE51-9831-3855-6ADF9610F565}"/>
              </a:ext>
            </a:extLst>
          </p:cNvPr>
          <p:cNvSpPr txBox="1">
            <a:spLocks/>
          </p:cNvSpPr>
          <p:nvPr/>
        </p:nvSpPr>
        <p:spPr>
          <a:xfrm>
            <a:off x="6781223" y="3143027"/>
            <a:ext cx="2116397" cy="113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600" b="1" dirty="0">
                <a:solidFill>
                  <a:srgbClr val="00459B"/>
                </a:solidFill>
              </a:rPr>
              <a:t>1,819</a:t>
            </a:r>
          </a:p>
          <a:p>
            <a:r>
              <a:rPr lang="en-PH" sz="1600" b="1" dirty="0">
                <a:solidFill>
                  <a:srgbClr val="64758F"/>
                </a:solidFill>
              </a:rPr>
              <a:t>customers</a:t>
            </a:r>
          </a:p>
        </p:txBody>
      </p:sp>
      <p:sp>
        <p:nvSpPr>
          <p:cNvPr id="102" name="Subtitle 2">
            <a:extLst>
              <a:ext uri="{FF2B5EF4-FFF2-40B4-BE49-F238E27FC236}">
                <a16:creationId xmlns:a16="http://schemas.microsoft.com/office/drawing/2014/main" id="{C8BDB5A3-0DDD-BFEB-6B71-218C46AC6BD8}"/>
              </a:ext>
            </a:extLst>
          </p:cNvPr>
          <p:cNvSpPr txBox="1">
            <a:spLocks/>
          </p:cNvSpPr>
          <p:nvPr/>
        </p:nvSpPr>
        <p:spPr>
          <a:xfrm>
            <a:off x="9378617" y="3143027"/>
            <a:ext cx="2116397" cy="113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600" b="1" dirty="0">
                <a:solidFill>
                  <a:srgbClr val="00459B"/>
                </a:solidFill>
              </a:rPr>
              <a:t>41.93%</a:t>
            </a:r>
          </a:p>
          <a:p>
            <a:r>
              <a:rPr lang="en-PH" sz="1600" b="1" dirty="0">
                <a:solidFill>
                  <a:srgbClr val="64758F"/>
                </a:solidFill>
              </a:rPr>
              <a:t>of total customers</a:t>
            </a:r>
          </a:p>
        </p:txBody>
      </p:sp>
      <p:pic>
        <p:nvPicPr>
          <p:cNvPr id="106" name="Graphic 105" descr="Coins with solid fill">
            <a:extLst>
              <a:ext uri="{FF2B5EF4-FFF2-40B4-BE49-F238E27FC236}">
                <a16:creationId xmlns:a16="http://schemas.microsoft.com/office/drawing/2014/main" id="{747AECD7-EC51-A9CF-93A3-83B992FEC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314" y="5817334"/>
            <a:ext cx="488184" cy="488184"/>
          </a:xfrm>
          <a:prstGeom prst="rect">
            <a:avLst/>
          </a:prstGeom>
        </p:spPr>
      </p:pic>
      <p:pic>
        <p:nvPicPr>
          <p:cNvPr id="110" name="Graphic 109" descr="Shopping cart with solid fill">
            <a:extLst>
              <a:ext uri="{FF2B5EF4-FFF2-40B4-BE49-F238E27FC236}">
                <a16:creationId xmlns:a16="http://schemas.microsoft.com/office/drawing/2014/main" id="{1DF7F878-25C4-D413-09D6-E06CA3B79C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310" y="5064851"/>
            <a:ext cx="457200" cy="457200"/>
          </a:xfrm>
          <a:prstGeom prst="rect">
            <a:avLst/>
          </a:prstGeom>
        </p:spPr>
      </p:pic>
      <p:pic>
        <p:nvPicPr>
          <p:cNvPr id="118" name="Graphic 117" descr="Clock with solid fill">
            <a:extLst>
              <a:ext uri="{FF2B5EF4-FFF2-40B4-BE49-F238E27FC236}">
                <a16:creationId xmlns:a16="http://schemas.microsoft.com/office/drawing/2014/main" id="{EE39F2E6-1E1B-7C7F-2E97-41AD640B0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322" y="4271752"/>
            <a:ext cx="521176" cy="521176"/>
          </a:xfrm>
          <a:prstGeom prst="rect">
            <a:avLst/>
          </a:prstGeom>
        </p:spPr>
      </p:pic>
      <p:pic>
        <p:nvPicPr>
          <p:cNvPr id="122" name="Graphic 121" descr="Clock with solid fill">
            <a:extLst>
              <a:ext uri="{FF2B5EF4-FFF2-40B4-BE49-F238E27FC236}">
                <a16:creationId xmlns:a16="http://schemas.microsoft.com/office/drawing/2014/main" id="{219663D0-0B89-30DC-8DFD-AB4995E91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5545" y="4230115"/>
            <a:ext cx="521176" cy="521176"/>
          </a:xfrm>
          <a:prstGeom prst="rect">
            <a:avLst/>
          </a:prstGeom>
        </p:spPr>
      </p:pic>
      <p:pic>
        <p:nvPicPr>
          <p:cNvPr id="126" name="Graphic 125" descr="Shopping cart with solid fill">
            <a:extLst>
              <a:ext uri="{FF2B5EF4-FFF2-40B4-BE49-F238E27FC236}">
                <a16:creationId xmlns:a16="http://schemas.microsoft.com/office/drawing/2014/main" id="{3493D5EB-B343-66CF-CCC1-306838FA31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5639" y="5028578"/>
            <a:ext cx="457200" cy="457200"/>
          </a:xfrm>
          <a:prstGeom prst="rect">
            <a:avLst/>
          </a:prstGeom>
        </p:spPr>
      </p:pic>
      <p:pic>
        <p:nvPicPr>
          <p:cNvPr id="130" name="Graphic 129" descr="Coins with solid fill">
            <a:extLst>
              <a:ext uri="{FF2B5EF4-FFF2-40B4-BE49-F238E27FC236}">
                <a16:creationId xmlns:a16="http://schemas.microsoft.com/office/drawing/2014/main" id="{78BEEABE-0EA3-5DB3-3205-2559E93E27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8532" y="5768833"/>
            <a:ext cx="488184" cy="48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3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CCA2-6B76-4989-78F1-FEEA9516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B4B0-C4F5-B028-7A51-6C96097B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969" y="80871"/>
            <a:ext cx="4104061" cy="724169"/>
          </a:xfrm>
        </p:spPr>
        <p:txBody>
          <a:bodyPr>
            <a:normAutofit/>
          </a:bodyPr>
          <a:lstStyle/>
          <a:p>
            <a:r>
              <a:rPr lang="en-PH" sz="4000" b="1" dirty="0">
                <a:solidFill>
                  <a:srgbClr val="011646"/>
                </a:solidFill>
              </a:rPr>
              <a:t>THE BIG INSIGHT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6CA66-76C9-0628-2B06-D51533F48835}"/>
              </a:ext>
            </a:extLst>
          </p:cNvPr>
          <p:cNvSpPr>
            <a:spLocks/>
          </p:cNvSpPr>
          <p:nvPr/>
        </p:nvSpPr>
        <p:spPr>
          <a:xfrm>
            <a:off x="371474" y="2359266"/>
            <a:ext cx="5521326" cy="1672761"/>
          </a:xfrm>
          <a:prstGeom prst="rect">
            <a:avLst/>
          </a:prstGeom>
          <a:solidFill>
            <a:srgbClr val="FCF5ED"/>
          </a:solidFill>
          <a:ln>
            <a:solidFill>
              <a:srgbClr val="FCF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rgbClr val="4F5866"/>
              </a:solidFill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DA9BB97-2F10-2205-0874-63CD31E70A59}"/>
              </a:ext>
            </a:extLst>
          </p:cNvPr>
          <p:cNvSpPr/>
          <p:nvPr/>
        </p:nvSpPr>
        <p:spPr>
          <a:xfrm>
            <a:off x="652203" y="2638524"/>
            <a:ext cx="1164194" cy="1138333"/>
          </a:xfrm>
          <a:prstGeom prst="flowChartConnector">
            <a:avLst/>
          </a:prstGeom>
          <a:solidFill>
            <a:srgbClr val="FCBD83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4" name="Graphic 13" descr="Users with solid fill">
            <a:extLst>
              <a:ext uri="{FF2B5EF4-FFF2-40B4-BE49-F238E27FC236}">
                <a16:creationId xmlns:a16="http://schemas.microsoft.com/office/drawing/2014/main" id="{30EBAE61-0032-3027-9745-1A4816982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737" y="2723127"/>
            <a:ext cx="969125" cy="969125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32A0EA4A-AE50-D656-4B9F-C78D18AA49B7}"/>
              </a:ext>
            </a:extLst>
          </p:cNvPr>
          <p:cNvSpPr txBox="1">
            <a:spLocks/>
          </p:cNvSpPr>
          <p:nvPr/>
        </p:nvSpPr>
        <p:spPr>
          <a:xfrm>
            <a:off x="2036865" y="2721906"/>
            <a:ext cx="3538728" cy="485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800" b="1" dirty="0">
                <a:solidFill>
                  <a:srgbClr val="C95D22"/>
                </a:solidFill>
              </a:rPr>
              <a:t>Lower-Engagement Customers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EC63B566-4510-FD3C-B2F6-2AB751CFF0B5}"/>
              </a:ext>
            </a:extLst>
          </p:cNvPr>
          <p:cNvSpPr txBox="1">
            <a:spLocks/>
          </p:cNvSpPr>
          <p:nvPr/>
        </p:nvSpPr>
        <p:spPr>
          <a:xfrm>
            <a:off x="1307491" y="762616"/>
            <a:ext cx="3649291" cy="15438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8000" b="1" dirty="0">
                <a:solidFill>
                  <a:srgbClr val="0257A6"/>
                </a:solidFill>
              </a:rPr>
              <a:t>41.93%</a:t>
            </a:r>
            <a:endParaRPr lang="en-PH" sz="7200" b="1" dirty="0">
              <a:solidFill>
                <a:srgbClr val="0257A6"/>
              </a:solidFill>
            </a:endParaRPr>
          </a:p>
          <a:p>
            <a:r>
              <a:rPr lang="en-PH" b="1" dirty="0">
                <a:solidFill>
                  <a:srgbClr val="0257A6"/>
                </a:solidFill>
              </a:rPr>
              <a:t>of Customers</a:t>
            </a:r>
            <a:endParaRPr lang="en-PH" sz="3200" b="1" dirty="0">
              <a:solidFill>
                <a:srgbClr val="0257A6"/>
              </a:solidFill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C02219E6-B2F6-1C19-B1ED-EB87B8AB325B}"/>
              </a:ext>
            </a:extLst>
          </p:cNvPr>
          <p:cNvSpPr txBox="1">
            <a:spLocks/>
          </p:cNvSpPr>
          <p:nvPr/>
        </p:nvSpPr>
        <p:spPr>
          <a:xfrm>
            <a:off x="1835718" y="3260530"/>
            <a:ext cx="2116397" cy="65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b="1" dirty="0">
                <a:solidFill>
                  <a:srgbClr val="C95D22"/>
                </a:solidFill>
              </a:rPr>
              <a:t>2,519 </a:t>
            </a:r>
            <a:r>
              <a:rPr lang="en-PH" sz="1100" b="1" dirty="0">
                <a:solidFill>
                  <a:srgbClr val="64758F"/>
                </a:solidFill>
              </a:rPr>
              <a:t>customers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4F796DBA-8F02-0D66-0EF1-8AD374A27FA3}"/>
              </a:ext>
            </a:extLst>
          </p:cNvPr>
          <p:cNvSpPr txBox="1">
            <a:spLocks/>
          </p:cNvSpPr>
          <p:nvPr/>
        </p:nvSpPr>
        <p:spPr>
          <a:xfrm>
            <a:off x="3777299" y="3165731"/>
            <a:ext cx="2125161" cy="679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200" b="1" dirty="0">
                <a:solidFill>
                  <a:srgbClr val="C95D22"/>
                </a:solidFill>
              </a:rPr>
              <a:t>£1.10M</a:t>
            </a:r>
            <a:endParaRPr lang="en-PH" sz="1400" b="1" dirty="0">
              <a:solidFill>
                <a:srgbClr val="C95D22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57A967B-D033-87B5-B2E0-9A6A21408BD0}"/>
              </a:ext>
            </a:extLst>
          </p:cNvPr>
          <p:cNvSpPr txBox="1">
            <a:spLocks/>
          </p:cNvSpPr>
          <p:nvPr/>
        </p:nvSpPr>
        <p:spPr>
          <a:xfrm>
            <a:off x="7244822" y="855733"/>
            <a:ext cx="3649291" cy="13575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8000" b="1" dirty="0">
                <a:solidFill>
                  <a:srgbClr val="1D7846"/>
                </a:solidFill>
              </a:rPr>
              <a:t>87.64%</a:t>
            </a:r>
          </a:p>
          <a:p>
            <a:r>
              <a:rPr lang="en-PH" sz="2600" b="1" dirty="0">
                <a:solidFill>
                  <a:srgbClr val="0E265D"/>
                </a:solidFill>
              </a:rPr>
              <a:t>of Monetary Value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747FD-33AB-8CB8-C871-0AB916FC1ECA}"/>
              </a:ext>
            </a:extLst>
          </p:cNvPr>
          <p:cNvSpPr>
            <a:spLocks/>
          </p:cNvSpPr>
          <p:nvPr/>
        </p:nvSpPr>
        <p:spPr>
          <a:xfrm>
            <a:off x="6308805" y="2359266"/>
            <a:ext cx="5521326" cy="1672761"/>
          </a:xfrm>
          <a:prstGeom prst="rect">
            <a:avLst/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rgbClr val="4F5866"/>
              </a:solidFill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0B40ADEE-2A81-EBBF-3AFA-2C7D0F016B37}"/>
              </a:ext>
            </a:extLst>
          </p:cNvPr>
          <p:cNvSpPr/>
          <p:nvPr/>
        </p:nvSpPr>
        <p:spPr>
          <a:xfrm>
            <a:off x="6589534" y="2638524"/>
            <a:ext cx="1164194" cy="1138333"/>
          </a:xfrm>
          <a:prstGeom prst="flowChartConnector">
            <a:avLst/>
          </a:prstGeom>
          <a:solidFill>
            <a:srgbClr val="B5D7F7"/>
          </a:solidFill>
          <a:ln>
            <a:solidFill>
              <a:srgbClr val="B5D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9" name="Graphic 18" descr="Users with solid fill">
            <a:extLst>
              <a:ext uri="{FF2B5EF4-FFF2-40B4-BE49-F238E27FC236}">
                <a16:creationId xmlns:a16="http://schemas.microsoft.com/office/drawing/2014/main" id="{124E1819-1D61-1571-A294-D0FB27FF8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7068" y="2723127"/>
            <a:ext cx="969125" cy="969125"/>
          </a:xfrm>
          <a:prstGeom prst="rect">
            <a:avLst/>
          </a:prstGeom>
        </p:spPr>
      </p:pic>
      <p:sp>
        <p:nvSpPr>
          <p:cNvPr id="23" name="Subtitle 2">
            <a:extLst>
              <a:ext uri="{FF2B5EF4-FFF2-40B4-BE49-F238E27FC236}">
                <a16:creationId xmlns:a16="http://schemas.microsoft.com/office/drawing/2014/main" id="{B233404D-D9D9-F829-8251-533F94AD86B8}"/>
              </a:ext>
            </a:extLst>
          </p:cNvPr>
          <p:cNvSpPr txBox="1">
            <a:spLocks/>
          </p:cNvSpPr>
          <p:nvPr/>
        </p:nvSpPr>
        <p:spPr>
          <a:xfrm>
            <a:off x="7974196" y="2721906"/>
            <a:ext cx="3538728" cy="485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800" b="1" dirty="0">
                <a:solidFill>
                  <a:srgbClr val="0257A6"/>
                </a:solidFill>
              </a:rPr>
              <a:t>Higher-Engagement Customers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E0EF1C9-68DD-1DF7-E4A5-CFF7A718B536}"/>
              </a:ext>
            </a:extLst>
          </p:cNvPr>
          <p:cNvSpPr txBox="1">
            <a:spLocks/>
          </p:cNvSpPr>
          <p:nvPr/>
        </p:nvSpPr>
        <p:spPr>
          <a:xfrm>
            <a:off x="7773049" y="3260530"/>
            <a:ext cx="2116397" cy="65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b="1" dirty="0">
                <a:solidFill>
                  <a:srgbClr val="0257A6"/>
                </a:solidFill>
              </a:rPr>
              <a:t>1,819</a:t>
            </a:r>
            <a:r>
              <a:rPr lang="en-PH" b="1" dirty="0">
                <a:solidFill>
                  <a:srgbClr val="C95D22"/>
                </a:solidFill>
              </a:rPr>
              <a:t> </a:t>
            </a:r>
            <a:r>
              <a:rPr lang="en-PH" sz="1100" b="1" dirty="0">
                <a:solidFill>
                  <a:srgbClr val="64758F"/>
                </a:solidFill>
              </a:rPr>
              <a:t>customers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10A379C-04CD-FFD5-E3D1-29CF66218EE0}"/>
              </a:ext>
            </a:extLst>
          </p:cNvPr>
          <p:cNvSpPr txBox="1">
            <a:spLocks/>
          </p:cNvSpPr>
          <p:nvPr/>
        </p:nvSpPr>
        <p:spPr>
          <a:xfrm>
            <a:off x="9714630" y="3165731"/>
            <a:ext cx="2125161" cy="679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3200" b="1" dirty="0">
                <a:solidFill>
                  <a:srgbClr val="0257A6"/>
                </a:solidFill>
              </a:rPr>
              <a:t>£7.79M</a:t>
            </a:r>
            <a:endParaRPr lang="en-PH" sz="1400" b="1" dirty="0">
              <a:solidFill>
                <a:srgbClr val="0257A6"/>
              </a:solidFill>
            </a:endParaRPr>
          </a:p>
        </p:txBody>
      </p:sp>
      <p:pic>
        <p:nvPicPr>
          <p:cNvPr id="31" name="Graphic 30" descr="Arrow Right with solid fill">
            <a:extLst>
              <a:ext uri="{FF2B5EF4-FFF2-40B4-BE49-F238E27FC236}">
                <a16:creationId xmlns:a16="http://schemas.microsoft.com/office/drawing/2014/main" id="{0433943C-C2A4-72A6-96BF-186553872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006" y="765754"/>
            <a:ext cx="914400" cy="914400"/>
          </a:xfrm>
          <a:prstGeom prst="rect">
            <a:avLst/>
          </a:prstGeom>
        </p:spPr>
      </p:pic>
      <p:sp>
        <p:nvSpPr>
          <p:cNvPr id="33" name="Subtitle 2">
            <a:extLst>
              <a:ext uri="{FF2B5EF4-FFF2-40B4-BE49-F238E27FC236}">
                <a16:creationId xmlns:a16="http://schemas.microsoft.com/office/drawing/2014/main" id="{EDA5F763-F8BA-BB04-0F91-A1C60CDF5D11}"/>
              </a:ext>
            </a:extLst>
          </p:cNvPr>
          <p:cNvSpPr txBox="1">
            <a:spLocks/>
          </p:cNvSpPr>
          <p:nvPr/>
        </p:nvSpPr>
        <p:spPr>
          <a:xfrm>
            <a:off x="454937" y="4408809"/>
            <a:ext cx="2761562" cy="538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Customer Base</a:t>
            </a:r>
            <a:endParaRPr lang="en-PH" sz="900" dirty="0">
              <a:solidFill>
                <a:srgbClr val="10183E"/>
              </a:solidFill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F9387D71-C3D5-0E18-9394-68E93F7D6290}"/>
              </a:ext>
            </a:extLst>
          </p:cNvPr>
          <p:cNvSpPr txBox="1">
            <a:spLocks/>
          </p:cNvSpPr>
          <p:nvPr/>
        </p:nvSpPr>
        <p:spPr>
          <a:xfrm>
            <a:off x="454937" y="4947433"/>
            <a:ext cx="2761562" cy="538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PH" b="1" dirty="0">
                <a:solidFill>
                  <a:srgbClr val="10183E"/>
                </a:solidFill>
              </a:rPr>
              <a:t>Monetary Value</a:t>
            </a:r>
            <a:endParaRPr lang="en-PH" sz="900" dirty="0">
              <a:solidFill>
                <a:srgbClr val="10183E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B98EB11-0AFF-3602-1E57-30D95866D2CF}"/>
              </a:ext>
            </a:extLst>
          </p:cNvPr>
          <p:cNvSpPr/>
          <p:nvPr/>
        </p:nvSpPr>
        <p:spPr>
          <a:xfrm>
            <a:off x="3181258" y="4431737"/>
            <a:ext cx="4913496" cy="406755"/>
          </a:xfrm>
          <a:prstGeom prst="roundRect">
            <a:avLst/>
          </a:prstGeom>
          <a:solidFill>
            <a:srgbClr val="EB832E"/>
          </a:solidFill>
          <a:ln>
            <a:solidFill>
              <a:srgbClr val="ED8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58.07%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C769F69-6A2B-4FA3-05B7-9E4049B93A0C}"/>
              </a:ext>
            </a:extLst>
          </p:cNvPr>
          <p:cNvSpPr/>
          <p:nvPr/>
        </p:nvSpPr>
        <p:spPr>
          <a:xfrm>
            <a:off x="7974196" y="4428922"/>
            <a:ext cx="3165691" cy="406755"/>
          </a:xfrm>
          <a:prstGeom prst="roundRect">
            <a:avLst/>
          </a:prstGeom>
          <a:solidFill>
            <a:srgbClr val="367DD7"/>
          </a:solidFill>
          <a:ln>
            <a:solidFill>
              <a:srgbClr val="357D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41.93%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C7E3E71-D609-6D35-A839-991D9D64D920}"/>
              </a:ext>
            </a:extLst>
          </p:cNvPr>
          <p:cNvSpPr/>
          <p:nvPr/>
        </p:nvSpPr>
        <p:spPr>
          <a:xfrm>
            <a:off x="3121211" y="5010344"/>
            <a:ext cx="2200089" cy="406755"/>
          </a:xfrm>
          <a:prstGeom prst="roundRect">
            <a:avLst/>
          </a:prstGeom>
          <a:solidFill>
            <a:srgbClr val="ED8130"/>
          </a:solidFill>
          <a:ln>
            <a:solidFill>
              <a:srgbClr val="ED8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12.36%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6B4F63D-EEDE-666E-BBEE-744CF2D4BB25}"/>
              </a:ext>
            </a:extLst>
          </p:cNvPr>
          <p:cNvSpPr/>
          <p:nvPr/>
        </p:nvSpPr>
        <p:spPr>
          <a:xfrm>
            <a:off x="4949831" y="5015710"/>
            <a:ext cx="6190056" cy="406755"/>
          </a:xfrm>
          <a:prstGeom prst="roundRect">
            <a:avLst/>
          </a:prstGeom>
          <a:solidFill>
            <a:srgbClr val="357DD8"/>
          </a:solidFill>
          <a:ln>
            <a:solidFill>
              <a:srgbClr val="357D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87.64%</a:t>
            </a: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A782C174-6076-64FF-F50E-6C05D932EE6E}"/>
              </a:ext>
            </a:extLst>
          </p:cNvPr>
          <p:cNvSpPr/>
          <p:nvPr/>
        </p:nvSpPr>
        <p:spPr>
          <a:xfrm>
            <a:off x="3806229" y="5586253"/>
            <a:ext cx="332842" cy="300198"/>
          </a:xfrm>
          <a:prstGeom prst="flowChartConnector">
            <a:avLst/>
          </a:prstGeom>
          <a:solidFill>
            <a:srgbClr val="ED8130"/>
          </a:solidFill>
          <a:ln>
            <a:solidFill>
              <a:srgbClr val="ED81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78E87D7C-7E72-A46A-136A-F6D78E44DEC9}"/>
              </a:ext>
            </a:extLst>
          </p:cNvPr>
          <p:cNvSpPr/>
          <p:nvPr/>
        </p:nvSpPr>
        <p:spPr>
          <a:xfrm>
            <a:off x="7323351" y="5586253"/>
            <a:ext cx="332842" cy="300198"/>
          </a:xfrm>
          <a:prstGeom prst="flowChartConnector">
            <a:avLst/>
          </a:prstGeom>
          <a:solidFill>
            <a:srgbClr val="357DD8"/>
          </a:solidFill>
          <a:ln>
            <a:solidFill>
              <a:srgbClr val="367D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7621204B-48E7-DAB6-9135-A7420613DD29}"/>
              </a:ext>
            </a:extLst>
          </p:cNvPr>
          <p:cNvSpPr txBox="1">
            <a:spLocks/>
          </p:cNvSpPr>
          <p:nvPr/>
        </p:nvSpPr>
        <p:spPr>
          <a:xfrm>
            <a:off x="7656193" y="5572098"/>
            <a:ext cx="3172560" cy="37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600" b="1" dirty="0">
                <a:solidFill>
                  <a:srgbClr val="0257A6"/>
                </a:solidFill>
              </a:rPr>
              <a:t>Higher-Engagement Customers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D74EB16E-8581-B08D-47DD-F239BCA24C94}"/>
              </a:ext>
            </a:extLst>
          </p:cNvPr>
          <p:cNvSpPr txBox="1">
            <a:spLocks/>
          </p:cNvSpPr>
          <p:nvPr/>
        </p:nvSpPr>
        <p:spPr>
          <a:xfrm>
            <a:off x="3886836" y="5572098"/>
            <a:ext cx="3519726" cy="37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600" b="1" dirty="0">
                <a:solidFill>
                  <a:srgbClr val="0257A6"/>
                </a:solidFill>
              </a:rPr>
              <a:t>Lower-Engagement Customers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2A6C15E-CE2B-7A2F-A09C-0440A821F25B}"/>
              </a:ext>
            </a:extLst>
          </p:cNvPr>
          <p:cNvSpPr>
            <a:spLocks/>
          </p:cNvSpPr>
          <p:nvPr/>
        </p:nvSpPr>
        <p:spPr>
          <a:xfrm>
            <a:off x="652203" y="6050239"/>
            <a:ext cx="10986411" cy="701034"/>
          </a:xfrm>
          <a:prstGeom prst="roundRect">
            <a:avLst/>
          </a:prstGeom>
          <a:solidFill>
            <a:srgbClr val="EFF7F7"/>
          </a:solidFill>
          <a:ln>
            <a:solidFill>
              <a:srgbClr val="EF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3A3D23F2-F584-4B1B-6736-9BEEFE6B507E}"/>
              </a:ext>
            </a:extLst>
          </p:cNvPr>
          <p:cNvSpPr txBox="1">
            <a:spLocks/>
          </p:cNvSpPr>
          <p:nvPr/>
        </p:nvSpPr>
        <p:spPr>
          <a:xfrm>
            <a:off x="1687396" y="6196883"/>
            <a:ext cx="2368156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Executive Takeaway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03170970-BB75-0722-44F3-DFD81C45B06E}"/>
              </a:ext>
            </a:extLst>
          </p:cNvPr>
          <p:cNvSpPr txBox="1">
            <a:spLocks/>
          </p:cNvSpPr>
          <p:nvPr/>
        </p:nvSpPr>
        <p:spPr>
          <a:xfrm>
            <a:off x="3906965" y="6082530"/>
            <a:ext cx="7880237" cy="64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 count and customer value are not distributed in the same way.</a:t>
            </a:r>
            <a:endParaRPr lang="en-PH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9B83A23A-E9C5-2425-B41D-3A21A9EDA2B2}"/>
              </a:ext>
            </a:extLst>
          </p:cNvPr>
          <p:cNvSpPr/>
          <p:nvPr/>
        </p:nvSpPr>
        <p:spPr>
          <a:xfrm>
            <a:off x="915399" y="6108890"/>
            <a:ext cx="599775" cy="588702"/>
          </a:xfrm>
          <a:prstGeom prst="flowChartConnector">
            <a:avLst/>
          </a:prstGeom>
          <a:solidFill>
            <a:srgbClr val="D0EFE7"/>
          </a:solidFill>
          <a:ln>
            <a:solidFill>
              <a:srgbClr val="D0E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3" name="Graphic 62" descr="Lights On with solid fill">
            <a:extLst>
              <a:ext uri="{FF2B5EF4-FFF2-40B4-BE49-F238E27FC236}">
                <a16:creationId xmlns:a16="http://schemas.microsoft.com/office/drawing/2014/main" id="{ECBAF0B4-7EF0-0204-00E8-75773F10A7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569" y="6164212"/>
            <a:ext cx="460837" cy="460837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EA2AE95-1806-5751-D3E3-325CD7DF8558}"/>
              </a:ext>
            </a:extLst>
          </p:cNvPr>
          <p:cNvCxnSpPr>
            <a:cxnSpLocks/>
          </p:cNvCxnSpPr>
          <p:nvPr/>
        </p:nvCxnSpPr>
        <p:spPr>
          <a:xfrm>
            <a:off x="1660972" y="6136550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CF11AC1-EA58-335F-A5F3-3DEF67815B9E}"/>
              </a:ext>
            </a:extLst>
          </p:cNvPr>
          <p:cNvCxnSpPr>
            <a:cxnSpLocks/>
          </p:cNvCxnSpPr>
          <p:nvPr/>
        </p:nvCxnSpPr>
        <p:spPr>
          <a:xfrm>
            <a:off x="3689797" y="6136550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53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D8D8-8D0D-4C94-B81C-2E9BA0348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B9B6-1B62-8A7C-0217-827C9F56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840" y="81943"/>
            <a:ext cx="9684731" cy="724169"/>
          </a:xfrm>
        </p:spPr>
        <p:txBody>
          <a:bodyPr>
            <a:normAutofit fontScale="90000"/>
          </a:bodyPr>
          <a:lstStyle/>
          <a:p>
            <a:r>
              <a:rPr lang="en-PH" sz="4000" b="1" dirty="0">
                <a:solidFill>
                  <a:srgbClr val="011646"/>
                </a:solidFill>
              </a:rPr>
              <a:t>Different Customers Require Different Strategies</a:t>
            </a: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0D97FE68-E61A-AF5F-FE99-1F862261A5C0}"/>
              </a:ext>
            </a:extLst>
          </p:cNvPr>
          <p:cNvSpPr txBox="1">
            <a:spLocks/>
          </p:cNvSpPr>
          <p:nvPr/>
        </p:nvSpPr>
        <p:spPr>
          <a:xfrm>
            <a:off x="2437164" y="689221"/>
            <a:ext cx="7316082" cy="46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600" b="1" dirty="0">
                <a:solidFill>
                  <a:srgbClr val="0257A6"/>
                </a:solidFill>
              </a:rPr>
              <a:t>Segmentation Creates an Opportunity for Differentiated Customer Actions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A0EABEE-6065-A417-99FA-8E0BB3E96AC2}"/>
              </a:ext>
            </a:extLst>
          </p:cNvPr>
          <p:cNvSpPr>
            <a:spLocks/>
          </p:cNvSpPr>
          <p:nvPr/>
        </p:nvSpPr>
        <p:spPr>
          <a:xfrm>
            <a:off x="652202" y="5886997"/>
            <a:ext cx="10986411" cy="701034"/>
          </a:xfrm>
          <a:prstGeom prst="roundRect">
            <a:avLst/>
          </a:prstGeom>
          <a:solidFill>
            <a:srgbClr val="EFF7F7"/>
          </a:solidFill>
          <a:ln>
            <a:solidFill>
              <a:srgbClr val="EF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95EF5106-8C35-C495-99B0-F16DADAC573C}"/>
              </a:ext>
            </a:extLst>
          </p:cNvPr>
          <p:cNvSpPr txBox="1">
            <a:spLocks/>
          </p:cNvSpPr>
          <p:nvPr/>
        </p:nvSpPr>
        <p:spPr>
          <a:xfrm>
            <a:off x="1687395" y="6033641"/>
            <a:ext cx="1652704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THE PRINCIPLE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8E4E56D-5F4A-FFF3-54E4-CF01C7FE2CEC}"/>
              </a:ext>
            </a:extLst>
          </p:cNvPr>
          <p:cNvSpPr txBox="1">
            <a:spLocks/>
          </p:cNvSpPr>
          <p:nvPr/>
        </p:nvSpPr>
        <p:spPr>
          <a:xfrm>
            <a:off x="3568702" y="5919288"/>
            <a:ext cx="8218500" cy="64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Protect high-value relationships while creating opportunities to increase engagement among lower-engagement customers.</a:t>
            </a:r>
            <a:endParaRPr lang="en-PH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4DD84A07-29B0-4D1D-ED75-551F84669588}"/>
              </a:ext>
            </a:extLst>
          </p:cNvPr>
          <p:cNvSpPr/>
          <p:nvPr/>
        </p:nvSpPr>
        <p:spPr>
          <a:xfrm>
            <a:off x="915398" y="5945648"/>
            <a:ext cx="599775" cy="588702"/>
          </a:xfrm>
          <a:prstGeom prst="flowChartConnector">
            <a:avLst/>
          </a:prstGeom>
          <a:solidFill>
            <a:srgbClr val="D0EFE7"/>
          </a:solidFill>
          <a:ln>
            <a:solidFill>
              <a:srgbClr val="D0E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3" name="Graphic 62" descr="Lights On with solid fill">
            <a:extLst>
              <a:ext uri="{FF2B5EF4-FFF2-40B4-BE49-F238E27FC236}">
                <a16:creationId xmlns:a16="http://schemas.microsoft.com/office/drawing/2014/main" id="{051913A9-6E6A-CA9D-9590-48292125D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568" y="6000970"/>
            <a:ext cx="460837" cy="460837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DDB02FB-C144-427A-E57B-88B84C8C2BE7}"/>
              </a:ext>
            </a:extLst>
          </p:cNvPr>
          <p:cNvCxnSpPr>
            <a:cxnSpLocks/>
          </p:cNvCxnSpPr>
          <p:nvPr/>
        </p:nvCxnSpPr>
        <p:spPr>
          <a:xfrm>
            <a:off x="1660971" y="5973308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A5BD1C2-28B4-D5D6-F135-7BE4ACE16A77}"/>
              </a:ext>
            </a:extLst>
          </p:cNvPr>
          <p:cNvCxnSpPr>
            <a:cxnSpLocks/>
          </p:cNvCxnSpPr>
          <p:nvPr/>
        </p:nvCxnSpPr>
        <p:spPr>
          <a:xfrm>
            <a:off x="3340099" y="5973308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EB6ABE-ED65-BF4D-8D59-CBB0FD01A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772146"/>
              </p:ext>
            </p:extLst>
          </p:nvPr>
        </p:nvGraphicFramePr>
        <p:xfrm>
          <a:off x="652202" y="1151709"/>
          <a:ext cx="10986411" cy="4552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137">
                  <a:extLst>
                    <a:ext uri="{9D8B030D-6E8A-4147-A177-3AD203B41FA5}">
                      <a16:colId xmlns:a16="http://schemas.microsoft.com/office/drawing/2014/main" val="3935564975"/>
                    </a:ext>
                  </a:extLst>
                </a:gridCol>
                <a:gridCol w="3662137">
                  <a:extLst>
                    <a:ext uri="{9D8B030D-6E8A-4147-A177-3AD203B41FA5}">
                      <a16:colId xmlns:a16="http://schemas.microsoft.com/office/drawing/2014/main" val="2523164555"/>
                    </a:ext>
                  </a:extLst>
                </a:gridCol>
                <a:gridCol w="3662137">
                  <a:extLst>
                    <a:ext uri="{9D8B030D-6E8A-4147-A177-3AD203B41FA5}">
                      <a16:colId xmlns:a16="http://schemas.microsoft.com/office/drawing/2014/main" val="2842240380"/>
                    </a:ext>
                  </a:extLst>
                </a:gridCol>
              </a:tblGrid>
              <a:tr h="1187335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PH" dirty="0">
                          <a:solidFill>
                            <a:srgbClr val="002790"/>
                          </a:solidFill>
                        </a:rPr>
                        <a:t>Higher-Engagement </a:t>
                      </a:r>
                    </a:p>
                    <a:p>
                      <a:pPr algn="r"/>
                      <a:r>
                        <a:rPr lang="en-PH" dirty="0">
                          <a:solidFill>
                            <a:srgbClr val="002790"/>
                          </a:solidFill>
                        </a:rPr>
                        <a:t>Customers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PH" dirty="0">
                          <a:solidFill>
                            <a:srgbClr val="BF3D0B"/>
                          </a:solidFill>
                        </a:rPr>
                        <a:t>Lower-Engagement </a:t>
                      </a:r>
                    </a:p>
                    <a:p>
                      <a:pPr algn="r"/>
                      <a:r>
                        <a:rPr lang="en-PH" dirty="0">
                          <a:solidFill>
                            <a:srgbClr val="BF3D0B"/>
                          </a:solidFill>
                        </a:rPr>
                        <a:t>Customers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857462"/>
                  </a:ext>
                </a:extLst>
              </a:tr>
              <a:tr h="728859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Primary Objective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Retain engagement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Increase engagement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453698"/>
                  </a:ext>
                </a:extLst>
              </a:tr>
              <a:tr h="878913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Potential Actions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Loyalty &amp; retention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Re-engagement &amp; win-back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843213"/>
                  </a:ext>
                </a:extLst>
              </a:tr>
              <a:tr h="878913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Growth Opportunities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Cross-sell/upsell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Increase purchase frequency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128949"/>
                  </a:ext>
                </a:extLst>
              </a:tr>
              <a:tr h="878913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Personalization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Relevant offers &amp; recommendations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Targeted Incentives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44427"/>
                  </a:ext>
                </a:extLst>
              </a:tr>
            </a:tbl>
          </a:graphicData>
        </a:graphic>
      </p:graphicFrame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EE2D5357-AAF7-DAE7-C207-0FE3A988D2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996" y="4955841"/>
            <a:ext cx="614400" cy="614400"/>
          </a:xfrm>
          <a:prstGeom prst="rect">
            <a:avLst/>
          </a:prstGeom>
        </p:spPr>
      </p:pic>
      <p:pic>
        <p:nvPicPr>
          <p:cNvPr id="16" name="Graphic 15" descr="Signal with solid fill">
            <a:extLst>
              <a:ext uri="{FF2B5EF4-FFF2-40B4-BE49-F238E27FC236}">
                <a16:creationId xmlns:a16="http://schemas.microsoft.com/office/drawing/2014/main" id="{EC361869-A8BA-88E0-B0E7-BBD5E8407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572" y="4062607"/>
            <a:ext cx="614400" cy="614400"/>
          </a:xfrm>
          <a:prstGeom prst="rect">
            <a:avLst/>
          </a:prstGeom>
        </p:spPr>
      </p:pic>
      <p:pic>
        <p:nvPicPr>
          <p:cNvPr id="21" name="Graphic 20" descr="Single gear with solid fill">
            <a:extLst>
              <a:ext uri="{FF2B5EF4-FFF2-40B4-BE49-F238E27FC236}">
                <a16:creationId xmlns:a16="http://schemas.microsoft.com/office/drawing/2014/main" id="{62B464CA-7569-0E49-FC1D-E4CF51098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572" y="3217328"/>
            <a:ext cx="614400" cy="614400"/>
          </a:xfrm>
          <a:prstGeom prst="rect">
            <a:avLst/>
          </a:prstGeom>
        </p:spPr>
      </p:pic>
      <p:pic>
        <p:nvPicPr>
          <p:cNvPr id="25" name="Graphic 24" descr="Bullseye with solid fill">
            <a:extLst>
              <a:ext uri="{FF2B5EF4-FFF2-40B4-BE49-F238E27FC236}">
                <a16:creationId xmlns:a16="http://schemas.microsoft.com/office/drawing/2014/main" id="{3E1E95E8-AC92-264C-382E-51A2094BF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572" y="2420573"/>
            <a:ext cx="614400" cy="614400"/>
          </a:xfrm>
          <a:prstGeom prst="rect">
            <a:avLst/>
          </a:prstGeom>
        </p:spPr>
      </p:pic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415CF96E-1D25-7071-BD4B-EC495072E889}"/>
              </a:ext>
            </a:extLst>
          </p:cNvPr>
          <p:cNvSpPr/>
          <p:nvPr/>
        </p:nvSpPr>
        <p:spPr>
          <a:xfrm>
            <a:off x="8225557" y="1181458"/>
            <a:ext cx="1164194" cy="1138333"/>
          </a:xfrm>
          <a:prstGeom prst="flowChartConnector">
            <a:avLst/>
          </a:prstGeom>
          <a:solidFill>
            <a:srgbClr val="FCBD83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2" name="Graphic 31" descr="Users with solid fill">
            <a:extLst>
              <a:ext uri="{FF2B5EF4-FFF2-40B4-BE49-F238E27FC236}">
                <a16:creationId xmlns:a16="http://schemas.microsoft.com/office/drawing/2014/main" id="{4519E13B-DB92-6B32-7646-3968F663D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3091" y="1266061"/>
            <a:ext cx="969125" cy="969125"/>
          </a:xfrm>
          <a:prstGeom prst="rect">
            <a:avLst/>
          </a:prstGeom>
        </p:spPr>
      </p:pic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D8163E11-010C-A94A-3A6F-09014E3FC027}"/>
              </a:ext>
            </a:extLst>
          </p:cNvPr>
          <p:cNvSpPr/>
          <p:nvPr/>
        </p:nvSpPr>
        <p:spPr>
          <a:xfrm>
            <a:off x="4487131" y="1181458"/>
            <a:ext cx="1164194" cy="1138333"/>
          </a:xfrm>
          <a:prstGeom prst="flowChartConnector">
            <a:avLst/>
          </a:prstGeom>
          <a:solidFill>
            <a:srgbClr val="B5D7F7"/>
          </a:solidFill>
          <a:ln>
            <a:solidFill>
              <a:srgbClr val="B5D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41" name="Graphic 40" descr="Users with solid fill">
            <a:extLst>
              <a:ext uri="{FF2B5EF4-FFF2-40B4-BE49-F238E27FC236}">
                <a16:creationId xmlns:a16="http://schemas.microsoft.com/office/drawing/2014/main" id="{DE40BAF0-03E6-F32A-9E80-EA45B1AD4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4665" y="1266061"/>
            <a:ext cx="969125" cy="96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0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17EF6-47FD-ABDC-001B-35C8C127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3AE8-992A-55C7-725E-68C23482D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840" y="81943"/>
            <a:ext cx="9684731" cy="724169"/>
          </a:xfrm>
        </p:spPr>
        <p:txBody>
          <a:bodyPr>
            <a:normAutofit fontScale="90000"/>
          </a:bodyPr>
          <a:lstStyle/>
          <a:p>
            <a:r>
              <a:rPr lang="en-PH" sz="4000" b="1" dirty="0">
                <a:solidFill>
                  <a:srgbClr val="011646"/>
                </a:solidFill>
              </a:rPr>
              <a:t>Different Customers Require Different Strategies</a:t>
            </a: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116B7BC9-DF6A-884E-7602-EC34013E82E6}"/>
              </a:ext>
            </a:extLst>
          </p:cNvPr>
          <p:cNvSpPr txBox="1">
            <a:spLocks/>
          </p:cNvSpPr>
          <p:nvPr/>
        </p:nvSpPr>
        <p:spPr>
          <a:xfrm>
            <a:off x="2437164" y="689221"/>
            <a:ext cx="7316082" cy="46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600" b="1" dirty="0">
                <a:solidFill>
                  <a:srgbClr val="0257A6"/>
                </a:solidFill>
              </a:rPr>
              <a:t>Segmentation Creates an Opportunity for Differentiated Customer Actions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6B48D9F-DFF7-6FBA-0415-6AF0314F121B}"/>
              </a:ext>
            </a:extLst>
          </p:cNvPr>
          <p:cNvSpPr>
            <a:spLocks/>
          </p:cNvSpPr>
          <p:nvPr/>
        </p:nvSpPr>
        <p:spPr>
          <a:xfrm>
            <a:off x="652202" y="5886997"/>
            <a:ext cx="10986411" cy="701034"/>
          </a:xfrm>
          <a:prstGeom prst="roundRect">
            <a:avLst/>
          </a:prstGeom>
          <a:solidFill>
            <a:srgbClr val="EFF7F7"/>
          </a:solidFill>
          <a:ln>
            <a:solidFill>
              <a:srgbClr val="EF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BC6D87BD-E6EC-01C1-38E7-3C0DAEC75B88}"/>
              </a:ext>
            </a:extLst>
          </p:cNvPr>
          <p:cNvSpPr txBox="1">
            <a:spLocks/>
          </p:cNvSpPr>
          <p:nvPr/>
        </p:nvSpPr>
        <p:spPr>
          <a:xfrm>
            <a:off x="1687395" y="6033641"/>
            <a:ext cx="1652704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THE PRINCIPLE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74D07B78-9800-49AE-75B5-95D1FAA0F228}"/>
              </a:ext>
            </a:extLst>
          </p:cNvPr>
          <p:cNvSpPr txBox="1">
            <a:spLocks/>
          </p:cNvSpPr>
          <p:nvPr/>
        </p:nvSpPr>
        <p:spPr>
          <a:xfrm>
            <a:off x="3568702" y="5919288"/>
            <a:ext cx="8218500" cy="64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Protect high-value relationships while creating opportunities to increase engagement among lower-engagement customers.</a:t>
            </a:r>
            <a:endParaRPr lang="en-PH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158D815B-43EA-0D3E-65AD-9DE7CFB5FA43}"/>
              </a:ext>
            </a:extLst>
          </p:cNvPr>
          <p:cNvSpPr/>
          <p:nvPr/>
        </p:nvSpPr>
        <p:spPr>
          <a:xfrm>
            <a:off x="915398" y="5945648"/>
            <a:ext cx="599775" cy="588702"/>
          </a:xfrm>
          <a:prstGeom prst="flowChartConnector">
            <a:avLst/>
          </a:prstGeom>
          <a:solidFill>
            <a:srgbClr val="D0EFE7"/>
          </a:solidFill>
          <a:ln>
            <a:solidFill>
              <a:srgbClr val="D0E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3" name="Graphic 62" descr="Lights On with solid fill">
            <a:extLst>
              <a:ext uri="{FF2B5EF4-FFF2-40B4-BE49-F238E27FC236}">
                <a16:creationId xmlns:a16="http://schemas.microsoft.com/office/drawing/2014/main" id="{B22F3B22-693C-4D38-1480-495EEF3B1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7568" y="6000970"/>
            <a:ext cx="460837" cy="460837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18F0C5C-52D0-D400-ACA3-8BBD0BC9D778}"/>
              </a:ext>
            </a:extLst>
          </p:cNvPr>
          <p:cNvCxnSpPr>
            <a:cxnSpLocks/>
          </p:cNvCxnSpPr>
          <p:nvPr/>
        </p:nvCxnSpPr>
        <p:spPr>
          <a:xfrm>
            <a:off x="1660971" y="5973308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223220-B87F-9759-72F0-2E4B76384492}"/>
              </a:ext>
            </a:extLst>
          </p:cNvPr>
          <p:cNvCxnSpPr>
            <a:cxnSpLocks/>
          </p:cNvCxnSpPr>
          <p:nvPr/>
        </p:nvCxnSpPr>
        <p:spPr>
          <a:xfrm>
            <a:off x="3340099" y="5973308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9470B5-74F6-CDEA-CEB9-BC70388E5ACD}"/>
              </a:ext>
            </a:extLst>
          </p:cNvPr>
          <p:cNvGraphicFramePr>
            <a:graphicFrameLocks noGrp="1"/>
          </p:cNvGraphicFramePr>
          <p:nvPr/>
        </p:nvGraphicFramePr>
        <p:xfrm>
          <a:off x="652202" y="1151709"/>
          <a:ext cx="10986411" cy="4552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137">
                  <a:extLst>
                    <a:ext uri="{9D8B030D-6E8A-4147-A177-3AD203B41FA5}">
                      <a16:colId xmlns:a16="http://schemas.microsoft.com/office/drawing/2014/main" val="3935564975"/>
                    </a:ext>
                  </a:extLst>
                </a:gridCol>
                <a:gridCol w="3662137">
                  <a:extLst>
                    <a:ext uri="{9D8B030D-6E8A-4147-A177-3AD203B41FA5}">
                      <a16:colId xmlns:a16="http://schemas.microsoft.com/office/drawing/2014/main" val="2523164555"/>
                    </a:ext>
                  </a:extLst>
                </a:gridCol>
                <a:gridCol w="3662137">
                  <a:extLst>
                    <a:ext uri="{9D8B030D-6E8A-4147-A177-3AD203B41FA5}">
                      <a16:colId xmlns:a16="http://schemas.microsoft.com/office/drawing/2014/main" val="2842240380"/>
                    </a:ext>
                  </a:extLst>
                </a:gridCol>
              </a:tblGrid>
              <a:tr h="1187335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PH" dirty="0">
                          <a:solidFill>
                            <a:srgbClr val="002790"/>
                          </a:solidFill>
                        </a:rPr>
                        <a:t>Higher-Engagement </a:t>
                      </a:r>
                    </a:p>
                    <a:p>
                      <a:pPr algn="r"/>
                      <a:r>
                        <a:rPr lang="en-PH" dirty="0">
                          <a:solidFill>
                            <a:srgbClr val="002790"/>
                          </a:solidFill>
                        </a:rPr>
                        <a:t>Customers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PH" dirty="0">
                          <a:solidFill>
                            <a:srgbClr val="BF3D0B"/>
                          </a:solidFill>
                        </a:rPr>
                        <a:t>Lower-Engagement </a:t>
                      </a:r>
                    </a:p>
                    <a:p>
                      <a:pPr algn="r"/>
                      <a:r>
                        <a:rPr lang="en-PH" dirty="0">
                          <a:solidFill>
                            <a:srgbClr val="BF3D0B"/>
                          </a:solidFill>
                        </a:rPr>
                        <a:t>Customers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857462"/>
                  </a:ext>
                </a:extLst>
              </a:tr>
              <a:tr h="728859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Primary Objective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Retain engagement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Increase engagement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453698"/>
                  </a:ext>
                </a:extLst>
              </a:tr>
              <a:tr h="878913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Potential Actions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Loyalty &amp; retention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Re-engagement &amp; win-back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843213"/>
                  </a:ext>
                </a:extLst>
              </a:tr>
              <a:tr h="878913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Growth Opportunities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Cross-sell/upsell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Increase purchase frequency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128949"/>
                  </a:ext>
                </a:extLst>
              </a:tr>
              <a:tr h="878913">
                <a:tc>
                  <a:txBody>
                    <a:bodyPr/>
                    <a:lstStyle/>
                    <a:p>
                      <a:pPr algn="r"/>
                      <a:r>
                        <a:rPr lang="en-PH" b="1" dirty="0">
                          <a:solidFill>
                            <a:srgbClr val="111352"/>
                          </a:solidFill>
                        </a:rPr>
                        <a:t>Personalization</a:t>
                      </a:r>
                    </a:p>
                  </a:txBody>
                  <a:tcPr anchor="ctr">
                    <a:solidFill>
                      <a:srgbClr val="EDF0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0" dirty="0">
                          <a:solidFill>
                            <a:srgbClr val="002790"/>
                          </a:solidFill>
                        </a:rPr>
                        <a:t>Relevant offers &amp; recommendations</a:t>
                      </a:r>
                    </a:p>
                  </a:txBody>
                  <a:tcPr anchor="ctr"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CB400B"/>
                          </a:solidFill>
                        </a:rPr>
                        <a:t>Targeted Incentives</a:t>
                      </a:r>
                    </a:p>
                  </a:txBody>
                  <a:tcPr anchor="ctr">
                    <a:solidFill>
                      <a:srgbClr val="FAE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44427"/>
                  </a:ext>
                </a:extLst>
              </a:tr>
            </a:tbl>
          </a:graphicData>
        </a:graphic>
      </p:graphicFrame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E0575DC1-70DC-3192-1052-F9B5D9C37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996" y="4955841"/>
            <a:ext cx="614400" cy="614400"/>
          </a:xfrm>
          <a:prstGeom prst="rect">
            <a:avLst/>
          </a:prstGeom>
        </p:spPr>
      </p:pic>
      <p:pic>
        <p:nvPicPr>
          <p:cNvPr id="16" name="Graphic 15" descr="Signal with solid fill">
            <a:extLst>
              <a:ext uri="{FF2B5EF4-FFF2-40B4-BE49-F238E27FC236}">
                <a16:creationId xmlns:a16="http://schemas.microsoft.com/office/drawing/2014/main" id="{CE6CA40B-36D6-F6C3-69C9-9B9F83597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572" y="4062607"/>
            <a:ext cx="614400" cy="614400"/>
          </a:xfrm>
          <a:prstGeom prst="rect">
            <a:avLst/>
          </a:prstGeom>
        </p:spPr>
      </p:pic>
      <p:pic>
        <p:nvPicPr>
          <p:cNvPr id="21" name="Graphic 20" descr="Single gear with solid fill">
            <a:extLst>
              <a:ext uri="{FF2B5EF4-FFF2-40B4-BE49-F238E27FC236}">
                <a16:creationId xmlns:a16="http://schemas.microsoft.com/office/drawing/2014/main" id="{15B87DAC-1B14-C898-F6CE-BDA52FA08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572" y="3217328"/>
            <a:ext cx="614400" cy="614400"/>
          </a:xfrm>
          <a:prstGeom prst="rect">
            <a:avLst/>
          </a:prstGeom>
        </p:spPr>
      </p:pic>
      <p:pic>
        <p:nvPicPr>
          <p:cNvPr id="25" name="Graphic 24" descr="Bullseye with solid fill">
            <a:extLst>
              <a:ext uri="{FF2B5EF4-FFF2-40B4-BE49-F238E27FC236}">
                <a16:creationId xmlns:a16="http://schemas.microsoft.com/office/drawing/2014/main" id="{FCE191FD-50DB-40BC-9B52-13FEC3278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572" y="2420573"/>
            <a:ext cx="614400" cy="614400"/>
          </a:xfrm>
          <a:prstGeom prst="rect">
            <a:avLst/>
          </a:prstGeom>
        </p:spPr>
      </p:pic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ADBBBCD0-231E-B447-3008-ECA8F0FD5894}"/>
              </a:ext>
            </a:extLst>
          </p:cNvPr>
          <p:cNvSpPr/>
          <p:nvPr/>
        </p:nvSpPr>
        <p:spPr>
          <a:xfrm>
            <a:off x="8225557" y="1181458"/>
            <a:ext cx="1164194" cy="1138333"/>
          </a:xfrm>
          <a:prstGeom prst="flowChartConnector">
            <a:avLst/>
          </a:prstGeom>
          <a:solidFill>
            <a:srgbClr val="FCBD83"/>
          </a:solidFill>
          <a:ln>
            <a:solidFill>
              <a:srgbClr val="FCEA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2" name="Graphic 31" descr="Users with solid fill">
            <a:extLst>
              <a:ext uri="{FF2B5EF4-FFF2-40B4-BE49-F238E27FC236}">
                <a16:creationId xmlns:a16="http://schemas.microsoft.com/office/drawing/2014/main" id="{ADB837DA-E51D-A3B1-9EDB-4B434B1E9E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3091" y="1266061"/>
            <a:ext cx="969125" cy="969125"/>
          </a:xfrm>
          <a:prstGeom prst="rect">
            <a:avLst/>
          </a:prstGeom>
        </p:spPr>
      </p:pic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B0A68B7-FC53-D960-0B17-BB01E2A262C3}"/>
              </a:ext>
            </a:extLst>
          </p:cNvPr>
          <p:cNvSpPr/>
          <p:nvPr/>
        </p:nvSpPr>
        <p:spPr>
          <a:xfrm>
            <a:off x="4487131" y="1181458"/>
            <a:ext cx="1164194" cy="1138333"/>
          </a:xfrm>
          <a:prstGeom prst="flowChartConnector">
            <a:avLst/>
          </a:prstGeom>
          <a:solidFill>
            <a:srgbClr val="B5D7F7"/>
          </a:solidFill>
          <a:ln>
            <a:solidFill>
              <a:srgbClr val="B5D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41" name="Graphic 40" descr="Users with solid fill">
            <a:extLst>
              <a:ext uri="{FF2B5EF4-FFF2-40B4-BE49-F238E27FC236}">
                <a16:creationId xmlns:a16="http://schemas.microsoft.com/office/drawing/2014/main" id="{96FF8451-6F77-311B-A392-6474D6802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4665" y="1266061"/>
            <a:ext cx="969125" cy="96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299</Words>
  <Application>Microsoft Office PowerPoint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Customer Segmentation: From Data to Action</vt:lpstr>
      <vt:lpstr>The Customer Base is Highly Diverse</vt:lpstr>
      <vt:lpstr>Two Distinct Customer Groups Emerged</vt:lpstr>
      <vt:lpstr>THE BIG INSIGHT</vt:lpstr>
      <vt:lpstr>Different Customers Require Different Strategies</vt:lpstr>
      <vt:lpstr>Different Customers Require Different Strategies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Sanchez</dc:creator>
  <cp:lastModifiedBy>Roberto Sanchez</cp:lastModifiedBy>
  <cp:revision>2</cp:revision>
  <dcterms:created xsi:type="dcterms:W3CDTF">2026-10-01T02:12:35Z</dcterms:created>
  <dcterms:modified xsi:type="dcterms:W3CDTF">2026-10-01T05:00:56Z</dcterms:modified>
</cp:coreProperties>
</file>