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399"/>
    <a:srgbClr val="FCFDF8"/>
    <a:srgbClr val="09284C"/>
    <a:srgbClr val="90A7CB"/>
    <a:srgbClr val="ECEEF5"/>
    <a:srgbClr val="788691"/>
    <a:srgbClr val="2A3B56"/>
    <a:srgbClr val="617096"/>
    <a:srgbClr val="486182"/>
    <a:srgbClr val="E8EA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9713" autoAdjust="0"/>
  </p:normalViewPr>
  <p:slideViewPr>
    <p:cSldViewPr snapToGrid="0">
      <p:cViewPr>
        <p:scale>
          <a:sx n="125" d="100"/>
          <a:sy n="125" d="100"/>
        </p:scale>
        <p:origin x="1662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Silhouette Score by Number of Clusters (K)</a:t>
            </a:r>
          </a:p>
        </c:rich>
      </c:tx>
      <c:layout>
        <c:manualLayout>
          <c:xMode val="edge"/>
          <c:yMode val="edge"/>
          <c:x val="2.3982056476564949E-2"/>
          <c:y val="2.37066540231178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9"/>
              <c:spPr>
                <a:solidFill>
                  <a:schemeClr val="tx2">
                    <a:lumMod val="50000"/>
                    <a:lumOff val="50000"/>
                  </a:schemeClr>
                </a:solidFill>
                <a:ln w="9525"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tx2">
                    <a:lumMod val="50000"/>
                    <a:lumOff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7E-4239-9FAA-FB20A565DE2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7A87C9B-DB21-42FB-9335-B548FCC4534C}" type="VALUE">
                      <a:rPr lang="en-US" sz="1800" b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rPr>
                      <a:pPr/>
                      <a:t>[VALUE]</a:t>
                    </a:fld>
                    <a:endParaRPr lang="en-PH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57E-4239-9FAA-FB20A565DE2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0.43280000000000002</c:v>
                </c:pt>
                <c:pt idx="1">
                  <c:v>0.33650000000000002</c:v>
                </c:pt>
                <c:pt idx="2">
                  <c:v>0.33750000000000002</c:v>
                </c:pt>
                <c:pt idx="3">
                  <c:v>0.31619999999999998</c:v>
                </c:pt>
                <c:pt idx="4">
                  <c:v>0.31240000000000001</c:v>
                </c:pt>
                <c:pt idx="5">
                  <c:v>0.30919999999999997</c:v>
                </c:pt>
                <c:pt idx="6">
                  <c:v>0.30330000000000001</c:v>
                </c:pt>
                <c:pt idx="7">
                  <c:v>0.28110000000000002</c:v>
                </c:pt>
                <c:pt idx="8">
                  <c:v>0.2767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7E-4239-9FAA-FB20A565DE2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2988592"/>
        <c:axId val="692987152"/>
      </c:lineChart>
      <c:catAx>
        <c:axId val="692988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Number of Clusters (K)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87152"/>
        <c:crosses val="autoZero"/>
        <c:auto val="1"/>
        <c:lblAlgn val="ctr"/>
        <c:lblOffset val="100"/>
        <c:noMultiLvlLbl val="0"/>
      </c:catAx>
      <c:valAx>
        <c:axId val="69298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b="1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Silhouette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2988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2DBF6-6F15-4BBD-B13B-15535E5B2430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EDE82-FE6E-4FA0-960B-21B87BC9350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614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EDE82-FE6E-4FA0-960B-21B87BC9350F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597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A32A-12DB-D5E1-F1A7-03A05C18E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2BBA1-0592-B041-2CB4-6F52618B4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3C39C-2794-A7B3-A641-80F86CE3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F798A-2B53-8696-9655-8A7A6B656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0B48-B47C-6C9C-EF62-7253F5DA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2621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7CA7-BA3F-E16C-E90F-9F8E148F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C7187-FD0F-66A4-9712-985C49369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88AFA-A893-068B-ABF1-A672F797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1128F-2946-D387-8037-E7A8EE7A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318C5-6580-B446-95C2-81E35EA1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3627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5A9C-B160-2AEC-D40B-FC366077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F68EC-E3FD-107A-C1AC-C503BEB6F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09CB8-4316-2B7A-1610-8665073B0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86570-7C9F-18F1-981C-8FC16EB9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0452A-179E-47DE-F82E-D24CCAB6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361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A846-0B27-2BD9-4F76-BBAE72B6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E0BE4-03E7-6E4B-9922-7A9CEA7D1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EB12D-2A0C-C85C-751E-1E42440FD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C16A2-F3A5-6161-ED49-F796BD548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055C0-A757-7F97-06C6-458D7300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559AC-5A2D-9978-F0E7-0250180C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779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8BB5-B3FA-F168-DF59-C5372422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CCD1B-86D9-DA08-A659-4890E42E8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D48D7-0818-6D12-724E-E88F5A4F6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81DCB-F101-7CBD-C14D-ABD70A7EC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B4A05-038B-0164-1C0C-32BC2BE77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D3C68-951E-0648-E550-5B10B5DB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ADF93-BFBD-A22F-5096-43D574BEB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B4D9F-5194-8B83-A798-3941EDDF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947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CAB6E-4D26-46BE-7F2D-C8DE8CA3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2A3A-A37B-AB5E-4916-53082D97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82A8B-1798-9519-7EAF-CBA58AED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58C72-E3B6-DAE0-8D71-BE4404B7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2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65FA5-46B6-8024-2599-67B74D66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7CC86-35CB-BDE3-360B-454341EF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C960-CA6F-E0BE-C358-000533F6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633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654B-B2A9-5742-772D-FB2CBFC4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9CCB-0915-E180-841A-8E7DC42D7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522B6-8526-17C7-10A8-52C201D50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87631-26F9-50C2-DAA1-B4DF6881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CD839-DD87-F6BB-EA28-7433ACF46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E523E-6AEC-147E-AC43-E90397A7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2191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358A-E829-4B4B-AAD2-B5692CFF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AA70C-747B-75CF-BB07-82B3CB8C0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08292-C6A3-86F6-CE78-9AC0D0B1D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38533-CA87-D32A-6F26-DE2DA614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42962-CF52-4956-7E66-D54F3786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B15EE-D43A-FF09-628E-E9AA6000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401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5BDB-AFB5-477A-D990-D9820390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C77E1-1A34-1A10-A551-1C553FF7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9DB5-2952-6D9B-752F-9A85E32C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476B-20C3-AD54-45CE-217045A4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A8F90-064B-E5A9-D932-BAEBCDD7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445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78F023-39F3-84E5-75BF-664F5C965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64518-5D1F-20D6-D9BB-795E631F9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034D5-6DED-E019-7592-065CABE5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2CA05-DCD4-52CF-E72B-3CE7B084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AAF6B-28E8-8BE2-33BE-AC8F995E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44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A1E0BD-96ED-D8A7-FFEB-80CE1DE4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22094-FAA3-20EA-3310-5591C9C93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5D662-B12B-EBC7-BCF0-36A73BC5A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95F5B-B741-428C-B9EB-86FC0344E6BE}" type="datetimeFigureOut">
              <a:rPr lang="en-PH" smtClean="0"/>
              <a:t>01/10/2026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F012-05CB-0540-00F5-959894264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A8D08-04F8-C69D-DA1F-8D179C47F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B1DD2-0717-4CC2-8816-568CE1811C0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041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14.svg"/><Relationship Id="rId18" Type="http://schemas.openxmlformats.org/officeDocument/2006/relationships/image" Target="../media/image19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3.svg"/><Relationship Id="rId17" Type="http://schemas.openxmlformats.org/officeDocument/2006/relationships/image" Target="../media/image18.svg"/><Relationship Id="rId2" Type="http://schemas.openxmlformats.org/officeDocument/2006/relationships/image" Target="../media/image6.svg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2.svg"/><Relationship Id="rId5" Type="http://schemas.openxmlformats.org/officeDocument/2006/relationships/image" Target="../media/image9.svg"/><Relationship Id="rId15" Type="http://schemas.openxmlformats.org/officeDocument/2006/relationships/image" Target="../media/image16.svg"/><Relationship Id="rId10" Type="http://schemas.openxmlformats.org/officeDocument/2006/relationships/image" Target="../media/image5.svg"/><Relationship Id="rId4" Type="http://schemas.openxmlformats.org/officeDocument/2006/relationships/image" Target="../media/image8.svg"/><Relationship Id="rId9" Type="http://schemas.openxmlformats.org/officeDocument/2006/relationships/image" Target="../media/image4.sv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0.svg"/><Relationship Id="rId7" Type="http://schemas.openxmlformats.org/officeDocument/2006/relationships/image" Target="../media/image23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12.svg"/><Relationship Id="rId4" Type="http://schemas.openxmlformats.org/officeDocument/2006/relationships/image" Target="../media/image21.svg"/><Relationship Id="rId9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12" Type="http://schemas.openxmlformats.org/officeDocument/2006/relationships/image" Target="../media/image35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7.sv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svg"/><Relationship Id="rId1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7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6.svg"/><Relationship Id="rId5" Type="http://schemas.openxmlformats.org/officeDocument/2006/relationships/image" Target="../media/image41.svg"/><Relationship Id="rId10" Type="http://schemas.openxmlformats.org/officeDocument/2006/relationships/image" Target="../media/image45.svg"/><Relationship Id="rId4" Type="http://schemas.openxmlformats.org/officeDocument/2006/relationships/image" Target="../media/image40.svg"/><Relationship Id="rId9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svg"/><Relationship Id="rId4" Type="http://schemas.openxmlformats.org/officeDocument/2006/relationships/image" Target="../media/image6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svg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EEF49CE3-7097-7D9E-FFDD-4BD3E683A8D9}"/>
              </a:ext>
            </a:extLst>
          </p:cNvPr>
          <p:cNvSpPr/>
          <p:nvPr/>
        </p:nvSpPr>
        <p:spPr>
          <a:xfrm>
            <a:off x="9423006" y="3633050"/>
            <a:ext cx="1317625" cy="128667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05DF22E9-B889-EDA8-7426-359F57EEC33C}"/>
              </a:ext>
            </a:extLst>
          </p:cNvPr>
          <p:cNvSpPr/>
          <p:nvPr/>
        </p:nvSpPr>
        <p:spPr>
          <a:xfrm>
            <a:off x="8965714" y="2711478"/>
            <a:ext cx="1317625" cy="1286670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7D4CA54C-52C9-7275-D8C1-86FD2B4CBC8A}"/>
              </a:ext>
            </a:extLst>
          </p:cNvPr>
          <p:cNvSpPr/>
          <p:nvPr/>
        </p:nvSpPr>
        <p:spPr>
          <a:xfrm>
            <a:off x="8010423" y="3321078"/>
            <a:ext cx="1317625" cy="128667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F2331-AFAC-E243-DF59-60AC20943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9875" y="1121568"/>
            <a:ext cx="6572250" cy="95726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Segmentation </a:t>
            </a:r>
            <a:b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Using RFM Analysis and K-Means Clustering</a:t>
            </a:r>
            <a:endParaRPr lang="en-PH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0F7FA-4C5E-33FB-39C8-D617B761E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8062" y="2289970"/>
            <a:ext cx="2555875" cy="5064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UCI Online Retail Dataset</a:t>
            </a:r>
            <a:endParaRPr lang="en-PH" sz="1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0F77174A-0873-0367-2853-0C7FA9C38FA5}"/>
              </a:ext>
            </a:extLst>
          </p:cNvPr>
          <p:cNvSpPr/>
          <p:nvPr/>
        </p:nvSpPr>
        <p:spPr>
          <a:xfrm rot="5400000">
            <a:off x="50801" y="-50802"/>
            <a:ext cx="2343149" cy="2444753"/>
          </a:xfrm>
          <a:prstGeom prst="rtTriangle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D8DA9D-08D1-C557-6F48-6FCBBEC28B82}"/>
              </a:ext>
            </a:extLst>
          </p:cNvPr>
          <p:cNvSpPr/>
          <p:nvPr/>
        </p:nvSpPr>
        <p:spPr>
          <a:xfrm rot="16200000">
            <a:off x="9798049" y="4464048"/>
            <a:ext cx="2343149" cy="2444754"/>
          </a:xfrm>
          <a:prstGeom prst="rtTriangle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23884455-C975-7DE5-87B4-7DFC5E16F801}"/>
              </a:ext>
            </a:extLst>
          </p:cNvPr>
          <p:cNvSpPr/>
          <p:nvPr/>
        </p:nvSpPr>
        <p:spPr>
          <a:xfrm>
            <a:off x="298450" y="592454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88CA3E3-ABB4-9079-CC56-BDC19DE326C6}"/>
              </a:ext>
            </a:extLst>
          </p:cNvPr>
          <p:cNvSpPr/>
          <p:nvPr/>
        </p:nvSpPr>
        <p:spPr>
          <a:xfrm>
            <a:off x="546100" y="592454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61EDFE28-B2B4-FA50-EFBB-2D05CBA3FC31}"/>
              </a:ext>
            </a:extLst>
          </p:cNvPr>
          <p:cNvSpPr/>
          <p:nvPr/>
        </p:nvSpPr>
        <p:spPr>
          <a:xfrm>
            <a:off x="793750" y="592454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24114364-C124-CE10-9627-AD6F457EE273}"/>
              </a:ext>
            </a:extLst>
          </p:cNvPr>
          <p:cNvSpPr/>
          <p:nvPr/>
        </p:nvSpPr>
        <p:spPr>
          <a:xfrm>
            <a:off x="1041400" y="592454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7176EE2-7AD1-9F51-47E5-E853B7B529BE}"/>
              </a:ext>
            </a:extLst>
          </p:cNvPr>
          <p:cNvSpPr/>
          <p:nvPr/>
        </p:nvSpPr>
        <p:spPr>
          <a:xfrm>
            <a:off x="298450" y="615949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7915B08D-D25F-54E8-D162-DFDB97A1DFD8}"/>
              </a:ext>
            </a:extLst>
          </p:cNvPr>
          <p:cNvSpPr/>
          <p:nvPr/>
        </p:nvSpPr>
        <p:spPr>
          <a:xfrm>
            <a:off x="546100" y="615949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30FDE521-6F0E-16F2-9DAD-330EBAA8D444}"/>
              </a:ext>
            </a:extLst>
          </p:cNvPr>
          <p:cNvSpPr/>
          <p:nvPr/>
        </p:nvSpPr>
        <p:spPr>
          <a:xfrm>
            <a:off x="793750" y="615949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2C89C8A1-2C4B-A890-0C53-295CA1E844E2}"/>
              </a:ext>
            </a:extLst>
          </p:cNvPr>
          <p:cNvSpPr/>
          <p:nvPr/>
        </p:nvSpPr>
        <p:spPr>
          <a:xfrm>
            <a:off x="1041400" y="615949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252BC73C-53B2-4E68-8FE5-8F8195551461}"/>
              </a:ext>
            </a:extLst>
          </p:cNvPr>
          <p:cNvSpPr/>
          <p:nvPr/>
        </p:nvSpPr>
        <p:spPr>
          <a:xfrm>
            <a:off x="298450" y="639444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41F7A3B5-B298-22FA-C58B-C7299CD5131E}"/>
              </a:ext>
            </a:extLst>
          </p:cNvPr>
          <p:cNvSpPr/>
          <p:nvPr/>
        </p:nvSpPr>
        <p:spPr>
          <a:xfrm>
            <a:off x="546100" y="639444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437FF476-B26E-04A9-F110-808C341DA290}"/>
              </a:ext>
            </a:extLst>
          </p:cNvPr>
          <p:cNvSpPr/>
          <p:nvPr/>
        </p:nvSpPr>
        <p:spPr>
          <a:xfrm>
            <a:off x="793750" y="639444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EADF33F3-D6B0-48B6-6913-7E04782C3FC4}"/>
              </a:ext>
            </a:extLst>
          </p:cNvPr>
          <p:cNvSpPr/>
          <p:nvPr/>
        </p:nvSpPr>
        <p:spPr>
          <a:xfrm>
            <a:off x="1041400" y="639444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9B6C0F4A-9729-1B96-AC8D-52FA09B2E02F}"/>
              </a:ext>
            </a:extLst>
          </p:cNvPr>
          <p:cNvSpPr/>
          <p:nvPr/>
        </p:nvSpPr>
        <p:spPr>
          <a:xfrm>
            <a:off x="298450" y="568959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BFD2651-E5C2-BD8D-C54E-16E84B28F792}"/>
              </a:ext>
            </a:extLst>
          </p:cNvPr>
          <p:cNvSpPr/>
          <p:nvPr/>
        </p:nvSpPr>
        <p:spPr>
          <a:xfrm>
            <a:off x="546100" y="568959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61017F95-EC58-ABBA-069B-9E4AC8185B39}"/>
              </a:ext>
            </a:extLst>
          </p:cNvPr>
          <p:cNvSpPr/>
          <p:nvPr/>
        </p:nvSpPr>
        <p:spPr>
          <a:xfrm>
            <a:off x="793750" y="568959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70089E1C-B695-9430-5F37-AF78A2D54CF5}"/>
              </a:ext>
            </a:extLst>
          </p:cNvPr>
          <p:cNvSpPr/>
          <p:nvPr/>
        </p:nvSpPr>
        <p:spPr>
          <a:xfrm>
            <a:off x="1041400" y="5689597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6A0F3DA0-6874-8C2A-A700-5A3E6F86DC66}"/>
              </a:ext>
            </a:extLst>
          </p:cNvPr>
          <p:cNvSpPr/>
          <p:nvPr/>
        </p:nvSpPr>
        <p:spPr>
          <a:xfrm>
            <a:off x="10896600" y="499270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725F5A40-EE1E-5B83-72AA-F557D2F30EDE}"/>
              </a:ext>
            </a:extLst>
          </p:cNvPr>
          <p:cNvSpPr/>
          <p:nvPr/>
        </p:nvSpPr>
        <p:spPr>
          <a:xfrm>
            <a:off x="11144250" y="49926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836EE3B1-E8A9-7B7D-35CD-BE047E7F900E}"/>
              </a:ext>
            </a:extLst>
          </p:cNvPr>
          <p:cNvSpPr/>
          <p:nvPr/>
        </p:nvSpPr>
        <p:spPr>
          <a:xfrm>
            <a:off x="11391900" y="49926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B040019B-7090-1981-A688-5F250BF352E3}"/>
              </a:ext>
            </a:extLst>
          </p:cNvPr>
          <p:cNvSpPr/>
          <p:nvPr/>
        </p:nvSpPr>
        <p:spPr>
          <a:xfrm>
            <a:off x="11639550" y="49926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C9C7E5DA-E19C-02A1-6AA6-DCC4E9C620C1}"/>
              </a:ext>
            </a:extLst>
          </p:cNvPr>
          <p:cNvSpPr/>
          <p:nvPr/>
        </p:nvSpPr>
        <p:spPr>
          <a:xfrm>
            <a:off x="10896600" y="734220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FEED1684-B230-67C0-8C7C-BEADCE2F443F}"/>
              </a:ext>
            </a:extLst>
          </p:cNvPr>
          <p:cNvSpPr/>
          <p:nvPr/>
        </p:nvSpPr>
        <p:spPr>
          <a:xfrm>
            <a:off x="11144250" y="73421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702614B1-E615-0F30-4C59-2D208A9A7F14}"/>
              </a:ext>
            </a:extLst>
          </p:cNvPr>
          <p:cNvSpPr/>
          <p:nvPr/>
        </p:nvSpPr>
        <p:spPr>
          <a:xfrm>
            <a:off x="11391900" y="73421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C37C2EC9-11C4-95C1-2A57-8446307F21B9}"/>
              </a:ext>
            </a:extLst>
          </p:cNvPr>
          <p:cNvSpPr/>
          <p:nvPr/>
        </p:nvSpPr>
        <p:spPr>
          <a:xfrm>
            <a:off x="11639550" y="73421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1D6552F1-D0B4-FD02-966A-EA567B3D234C}"/>
              </a:ext>
            </a:extLst>
          </p:cNvPr>
          <p:cNvSpPr/>
          <p:nvPr/>
        </p:nvSpPr>
        <p:spPr>
          <a:xfrm>
            <a:off x="10896600" y="96916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FB37FA34-BC73-328E-2BC9-53BA4EE8033E}"/>
              </a:ext>
            </a:extLst>
          </p:cNvPr>
          <p:cNvSpPr/>
          <p:nvPr/>
        </p:nvSpPr>
        <p:spPr>
          <a:xfrm>
            <a:off x="11144250" y="96916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Flowchart: Connector 59">
            <a:extLst>
              <a:ext uri="{FF2B5EF4-FFF2-40B4-BE49-F238E27FC236}">
                <a16:creationId xmlns:a16="http://schemas.microsoft.com/office/drawing/2014/main" id="{DF32301C-B8EF-A66E-F63F-499B73CEC678}"/>
              </a:ext>
            </a:extLst>
          </p:cNvPr>
          <p:cNvSpPr/>
          <p:nvPr/>
        </p:nvSpPr>
        <p:spPr>
          <a:xfrm>
            <a:off x="11391900" y="96916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ED2E68D7-696D-B49F-3CC5-AFA2461C9529}"/>
              </a:ext>
            </a:extLst>
          </p:cNvPr>
          <p:cNvSpPr/>
          <p:nvPr/>
        </p:nvSpPr>
        <p:spPr>
          <a:xfrm>
            <a:off x="11639550" y="96916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4" name="Flowchart: Connector 63">
            <a:extLst>
              <a:ext uri="{FF2B5EF4-FFF2-40B4-BE49-F238E27FC236}">
                <a16:creationId xmlns:a16="http://schemas.microsoft.com/office/drawing/2014/main" id="{6ED41FA7-FFF9-BE21-8410-D3C53A194D32}"/>
              </a:ext>
            </a:extLst>
          </p:cNvPr>
          <p:cNvSpPr/>
          <p:nvPr/>
        </p:nvSpPr>
        <p:spPr>
          <a:xfrm>
            <a:off x="10896600" y="264319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Flowchart: Connector 65">
            <a:extLst>
              <a:ext uri="{FF2B5EF4-FFF2-40B4-BE49-F238E27FC236}">
                <a16:creationId xmlns:a16="http://schemas.microsoft.com/office/drawing/2014/main" id="{1E7E12A2-92C3-00E3-99B7-1AA1F2DE96B9}"/>
              </a:ext>
            </a:extLst>
          </p:cNvPr>
          <p:cNvSpPr/>
          <p:nvPr/>
        </p:nvSpPr>
        <p:spPr>
          <a:xfrm>
            <a:off x="11144250" y="26431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AE4124E4-9126-5F6B-FFBA-E79ACB8232F0}"/>
              </a:ext>
            </a:extLst>
          </p:cNvPr>
          <p:cNvSpPr/>
          <p:nvPr/>
        </p:nvSpPr>
        <p:spPr>
          <a:xfrm>
            <a:off x="11391900" y="26431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0" name="Flowchart: Connector 69">
            <a:extLst>
              <a:ext uri="{FF2B5EF4-FFF2-40B4-BE49-F238E27FC236}">
                <a16:creationId xmlns:a16="http://schemas.microsoft.com/office/drawing/2014/main" id="{B9A73FA1-6F49-A1AC-4E38-3F255924CD83}"/>
              </a:ext>
            </a:extLst>
          </p:cNvPr>
          <p:cNvSpPr/>
          <p:nvPr/>
        </p:nvSpPr>
        <p:spPr>
          <a:xfrm>
            <a:off x="11639550" y="264318"/>
            <a:ext cx="165100" cy="15239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ADDC773-DC58-6A5F-010D-69EDFD2A7C7D}"/>
              </a:ext>
            </a:extLst>
          </p:cNvPr>
          <p:cNvCxnSpPr>
            <a:cxnSpLocks/>
          </p:cNvCxnSpPr>
          <p:nvPr/>
        </p:nvCxnSpPr>
        <p:spPr>
          <a:xfrm>
            <a:off x="4876800" y="2184400"/>
            <a:ext cx="249713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Subtitle 2">
            <a:extLst>
              <a:ext uri="{FF2B5EF4-FFF2-40B4-BE49-F238E27FC236}">
                <a16:creationId xmlns:a16="http://schemas.microsoft.com/office/drawing/2014/main" id="{ED59676F-ABF3-A0E5-D5D2-5CD21C909937}"/>
              </a:ext>
            </a:extLst>
          </p:cNvPr>
          <p:cNvSpPr txBox="1">
            <a:spLocks/>
          </p:cNvSpPr>
          <p:nvPr/>
        </p:nvSpPr>
        <p:spPr>
          <a:xfrm>
            <a:off x="4028280" y="2648744"/>
            <a:ext cx="4135438" cy="506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MACHINE LEARNING CAPSTONE PROJECT</a:t>
            </a:r>
            <a:endParaRPr lang="en-PH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7" name="Graphic 76" descr="Group of people with solid fill">
            <a:extLst>
              <a:ext uri="{FF2B5EF4-FFF2-40B4-BE49-F238E27FC236}">
                <a16:creationId xmlns:a16="http://schemas.microsoft.com/office/drawing/2014/main" id="{77200DB9-92F5-DB36-5D04-319445A66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7454" y="3255168"/>
            <a:ext cx="1418491" cy="1418491"/>
          </a:xfrm>
          <a:prstGeom prst="rect">
            <a:avLst/>
          </a:prstGeom>
        </p:spPr>
      </p:pic>
      <p:pic>
        <p:nvPicPr>
          <p:cNvPr id="79" name="Graphic 78" descr="Children with solid fill">
            <a:extLst>
              <a:ext uri="{FF2B5EF4-FFF2-40B4-BE49-F238E27FC236}">
                <a16:creationId xmlns:a16="http://schemas.microsoft.com/office/drawing/2014/main" id="{B2866E0A-AAB3-D795-81A7-9C17B5D5C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6053" y="3567140"/>
            <a:ext cx="794546" cy="794546"/>
          </a:xfrm>
          <a:prstGeom prst="rect">
            <a:avLst/>
          </a:prstGeom>
        </p:spPr>
      </p:pic>
      <p:pic>
        <p:nvPicPr>
          <p:cNvPr id="83" name="Graphic 82" descr="Database with solid fill">
            <a:extLst>
              <a:ext uri="{FF2B5EF4-FFF2-40B4-BE49-F238E27FC236}">
                <a16:creationId xmlns:a16="http://schemas.microsoft.com/office/drawing/2014/main" id="{46A54DDD-B010-215A-9662-794C19498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6754" y="3255168"/>
            <a:ext cx="1418490" cy="1418490"/>
          </a:xfrm>
          <a:prstGeom prst="rect">
            <a:avLst/>
          </a:prstGeom>
        </p:spPr>
      </p:pic>
      <p:pic>
        <p:nvPicPr>
          <p:cNvPr id="87" name="Graphic 86" descr="Children with solid fill">
            <a:extLst>
              <a:ext uri="{FF2B5EF4-FFF2-40B4-BE49-F238E27FC236}">
                <a16:creationId xmlns:a16="http://schemas.microsoft.com/office/drawing/2014/main" id="{2FB8ED8E-1181-A9FD-D839-EE21D84B0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27254" y="2957540"/>
            <a:ext cx="794546" cy="794546"/>
          </a:xfrm>
          <a:prstGeom prst="rect">
            <a:avLst/>
          </a:prstGeom>
        </p:spPr>
      </p:pic>
      <p:pic>
        <p:nvPicPr>
          <p:cNvPr id="89" name="Graphic 88" descr="Children with solid fill">
            <a:extLst>
              <a:ext uri="{FF2B5EF4-FFF2-40B4-BE49-F238E27FC236}">
                <a16:creationId xmlns:a16="http://schemas.microsoft.com/office/drawing/2014/main" id="{10DDE42F-B86C-800B-8D9A-73850F568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4546" y="3879112"/>
            <a:ext cx="794546" cy="794546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676CB1E-86AA-C107-A00D-77D6DD445659}"/>
              </a:ext>
            </a:extLst>
          </p:cNvPr>
          <p:cNvCxnSpPr>
            <a:cxnSpLocks/>
          </p:cNvCxnSpPr>
          <p:nvPr/>
        </p:nvCxnSpPr>
        <p:spPr>
          <a:xfrm>
            <a:off x="4241800" y="3998148"/>
            <a:ext cx="9271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B7E8D15-C8DF-D8DF-F1F7-2C05E7709CA5}"/>
              </a:ext>
            </a:extLst>
          </p:cNvPr>
          <p:cNvCxnSpPr>
            <a:cxnSpLocks/>
          </p:cNvCxnSpPr>
          <p:nvPr/>
        </p:nvCxnSpPr>
        <p:spPr>
          <a:xfrm>
            <a:off x="6858000" y="3964413"/>
            <a:ext cx="9271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Flowchart: Terminator 98">
            <a:extLst>
              <a:ext uri="{FF2B5EF4-FFF2-40B4-BE49-F238E27FC236}">
                <a16:creationId xmlns:a16="http://schemas.microsoft.com/office/drawing/2014/main" id="{80AA652F-672D-4B53-69B1-D2E7318E5B22}"/>
              </a:ext>
            </a:extLst>
          </p:cNvPr>
          <p:cNvSpPr/>
          <p:nvPr/>
        </p:nvSpPr>
        <p:spPr>
          <a:xfrm>
            <a:off x="2507453" y="4748270"/>
            <a:ext cx="1418491" cy="342900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CUSTOMERS</a:t>
            </a:r>
            <a:endParaRPr lang="en-PH" sz="1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1" name="Flowchart: Terminator 100">
            <a:extLst>
              <a:ext uri="{FF2B5EF4-FFF2-40B4-BE49-F238E27FC236}">
                <a16:creationId xmlns:a16="http://schemas.microsoft.com/office/drawing/2014/main" id="{769B07B7-692E-5C1B-503A-0E74761054EC}"/>
              </a:ext>
            </a:extLst>
          </p:cNvPr>
          <p:cNvSpPr/>
          <p:nvPr/>
        </p:nvSpPr>
        <p:spPr>
          <a:xfrm>
            <a:off x="5386753" y="4748270"/>
            <a:ext cx="1418491" cy="342900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</a:t>
            </a:r>
            <a:endParaRPr lang="en-PH" sz="1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3" name="Flowchart: Terminator 102">
            <a:extLst>
              <a:ext uri="{FF2B5EF4-FFF2-40B4-BE49-F238E27FC236}">
                <a16:creationId xmlns:a16="http://schemas.microsoft.com/office/drawing/2014/main" id="{87A4F9EB-7450-FD8A-2620-C568EE6CEC05}"/>
              </a:ext>
            </a:extLst>
          </p:cNvPr>
          <p:cNvSpPr/>
          <p:nvPr/>
        </p:nvSpPr>
        <p:spPr>
          <a:xfrm>
            <a:off x="8624475" y="4748270"/>
            <a:ext cx="1515300" cy="342900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SEGMENTATION</a:t>
            </a:r>
            <a:endParaRPr lang="en-PH" sz="12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3E790A8-0B2B-532A-4592-8041C99E566F}"/>
              </a:ext>
            </a:extLst>
          </p:cNvPr>
          <p:cNvCxnSpPr>
            <a:cxnSpLocks/>
          </p:cNvCxnSpPr>
          <p:nvPr/>
        </p:nvCxnSpPr>
        <p:spPr>
          <a:xfrm>
            <a:off x="4876799" y="5321300"/>
            <a:ext cx="2497137" cy="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Subtitle 2">
            <a:extLst>
              <a:ext uri="{FF2B5EF4-FFF2-40B4-BE49-F238E27FC236}">
                <a16:creationId xmlns:a16="http://schemas.microsoft.com/office/drawing/2014/main" id="{E96A7713-81E7-8900-D8C1-417FBF56164C}"/>
              </a:ext>
            </a:extLst>
          </p:cNvPr>
          <p:cNvSpPr txBox="1">
            <a:spLocks/>
          </p:cNvSpPr>
          <p:nvPr/>
        </p:nvSpPr>
        <p:spPr>
          <a:xfrm>
            <a:off x="4847429" y="5418137"/>
            <a:ext cx="2555875" cy="1029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Roberto G. Sanchez</a:t>
            </a:r>
          </a:p>
          <a:p>
            <a:r>
              <a:rPr lang="en-US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 Graduate Diploma in Artificial Intelligence and Machine Learning</a:t>
            </a:r>
          </a:p>
          <a:p>
            <a:r>
              <a:rPr lang="en-PH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 September 2026</a:t>
            </a:r>
            <a:endParaRPr 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208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31BCA-08D9-F768-A365-B679434BA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295275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02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Problem &amp; Objective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E487A5-87A2-4684-F51D-2497034877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78176" y="836683"/>
            <a:ext cx="13489376" cy="700922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F8FB3F-121E-807C-F3ED-B0ABFB449BD9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130F95-F40E-F342-60E5-EB9F692D566F}"/>
              </a:ext>
            </a:extLst>
          </p:cNvPr>
          <p:cNvSpPr txBox="1">
            <a:spLocks/>
          </p:cNvSpPr>
          <p:nvPr/>
        </p:nvSpPr>
        <p:spPr>
          <a:xfrm>
            <a:off x="647699" y="668133"/>
            <a:ext cx="8794751" cy="1342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UNDERSTAND THE PROBLEM </a:t>
            </a:r>
            <a:r>
              <a:rPr lang="en-US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&amp; OBJECTIVE</a:t>
            </a:r>
            <a:endParaRPr lang="en-PH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AF6491-492E-B582-101B-3DDFC1467A00}"/>
              </a:ext>
            </a:extLst>
          </p:cNvPr>
          <p:cNvSpPr/>
          <p:nvPr/>
        </p:nvSpPr>
        <p:spPr>
          <a:xfrm>
            <a:off x="190499" y="1684870"/>
            <a:ext cx="5386326" cy="1562100"/>
          </a:xfrm>
          <a:prstGeom prst="roundRect">
            <a:avLst/>
          </a:prstGeom>
          <a:solidFill>
            <a:srgbClr val="F9EAED"/>
          </a:solidFill>
          <a:ln>
            <a:solidFill>
              <a:srgbClr val="F9E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31" name="Graphic 30" descr="Bullseye outline">
            <a:extLst>
              <a:ext uri="{FF2B5EF4-FFF2-40B4-BE49-F238E27FC236}">
                <a16:creationId xmlns:a16="http://schemas.microsoft.com/office/drawing/2014/main" id="{98134C27-95CD-0C16-01B6-FA12619F4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77573" y="4597363"/>
            <a:ext cx="914400" cy="914400"/>
          </a:xfrm>
          <a:prstGeom prst="rect">
            <a:avLst/>
          </a:prstGeom>
        </p:spPr>
      </p:pic>
      <p:pic>
        <p:nvPicPr>
          <p:cNvPr id="35" name="Graphic 34" descr="Warning outline">
            <a:extLst>
              <a:ext uri="{FF2B5EF4-FFF2-40B4-BE49-F238E27FC236}">
                <a16:creationId xmlns:a16="http://schemas.microsoft.com/office/drawing/2014/main" id="{C4B90964-953C-42D3-1DC7-FB11B4766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4095" y="5523563"/>
            <a:ext cx="914400" cy="914400"/>
          </a:xfrm>
          <a:prstGeom prst="rect">
            <a:avLst/>
          </a:prstGeom>
        </p:spPr>
      </p:pic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585DA1BE-107D-1ACD-6FC4-9505E8A3899A}"/>
              </a:ext>
            </a:extLst>
          </p:cNvPr>
          <p:cNvSpPr/>
          <p:nvPr/>
        </p:nvSpPr>
        <p:spPr>
          <a:xfrm>
            <a:off x="381563" y="2010183"/>
            <a:ext cx="843567" cy="855366"/>
          </a:xfrm>
          <a:prstGeom prst="flowChartConnector">
            <a:avLst/>
          </a:prstGeom>
          <a:solidFill>
            <a:srgbClr val="FAA0A0"/>
          </a:solidFill>
          <a:ln>
            <a:solidFill>
              <a:srgbClr val="FAA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7" name="Graphic 36" descr="Warning with solid fill">
            <a:extLst>
              <a:ext uri="{FF2B5EF4-FFF2-40B4-BE49-F238E27FC236}">
                <a16:creationId xmlns:a16="http://schemas.microsoft.com/office/drawing/2014/main" id="{2A2BB6A8-3987-CC99-E6EF-8264D2A47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350" y="2010183"/>
            <a:ext cx="715294" cy="715294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A7638E69-3CC6-6DEE-5A1D-D66713AEF54C}"/>
              </a:ext>
            </a:extLst>
          </p:cNvPr>
          <p:cNvSpPr txBox="1">
            <a:spLocks/>
          </p:cNvSpPr>
          <p:nvPr/>
        </p:nvSpPr>
        <p:spPr>
          <a:xfrm>
            <a:off x="1252431" y="1646645"/>
            <a:ext cx="2497695" cy="599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800020"/>
                </a:solidFill>
              </a:rPr>
              <a:t>Business Problem</a:t>
            </a:r>
            <a:endParaRPr lang="en-PH" sz="1800" b="1" dirty="0">
              <a:solidFill>
                <a:srgbClr val="800020"/>
              </a:solidFill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1CB1BD95-44D1-07F8-C6A6-97D6BB19E360}"/>
              </a:ext>
            </a:extLst>
          </p:cNvPr>
          <p:cNvSpPr txBox="1">
            <a:spLocks/>
          </p:cNvSpPr>
          <p:nvPr/>
        </p:nvSpPr>
        <p:spPr>
          <a:xfrm>
            <a:off x="1366087" y="1993461"/>
            <a:ext cx="4135137" cy="1163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retailer has a large volume of transaction data but lacks a systematic way to identify customers with different purchasing behaviors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9E362C2-9F14-B81C-1C45-985BCF836F61}"/>
              </a:ext>
            </a:extLst>
          </p:cNvPr>
          <p:cNvSpPr/>
          <p:nvPr/>
        </p:nvSpPr>
        <p:spPr>
          <a:xfrm>
            <a:off x="5767360" y="1685106"/>
            <a:ext cx="5386326" cy="15621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94044253-7F43-981F-17CA-6EDE33943CC7}"/>
              </a:ext>
            </a:extLst>
          </p:cNvPr>
          <p:cNvSpPr/>
          <p:nvPr/>
        </p:nvSpPr>
        <p:spPr>
          <a:xfrm>
            <a:off x="5958424" y="2010419"/>
            <a:ext cx="843567" cy="855366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BE98FA10-23D4-08C0-0353-245DB83174FE}"/>
              </a:ext>
            </a:extLst>
          </p:cNvPr>
          <p:cNvSpPr txBox="1">
            <a:spLocks/>
          </p:cNvSpPr>
          <p:nvPr/>
        </p:nvSpPr>
        <p:spPr>
          <a:xfrm>
            <a:off x="6829292" y="1646881"/>
            <a:ext cx="3069793" cy="599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Machine Learning Objective</a:t>
            </a:r>
            <a:endParaRPr lang="en-PH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8596BB46-DAE4-E320-6458-97A4327A4091}"/>
              </a:ext>
            </a:extLst>
          </p:cNvPr>
          <p:cNvSpPr txBox="1">
            <a:spLocks/>
          </p:cNvSpPr>
          <p:nvPr/>
        </p:nvSpPr>
        <p:spPr>
          <a:xfrm>
            <a:off x="6838366" y="1911570"/>
            <a:ext cx="4259016" cy="1163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 an unsupervised customer segmentation model that groups customers based on their purchasing behavior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7012E061-1017-5E71-04D2-657648B65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1382" y="2089041"/>
            <a:ext cx="697650" cy="697650"/>
          </a:xfrm>
          <a:prstGeom prst="rect">
            <a:avLst/>
          </a:pr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C78DA72-97BB-3C66-669B-9B839BA60A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241" y="3520848"/>
            <a:ext cx="12004459" cy="1640897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3" name="Rectangle: Single Corner Snipped 62">
            <a:extLst>
              <a:ext uri="{FF2B5EF4-FFF2-40B4-BE49-F238E27FC236}">
                <a16:creationId xmlns:a16="http://schemas.microsoft.com/office/drawing/2014/main" id="{2AB9FFC3-6FF7-F066-957B-AB4D8D027089}"/>
              </a:ext>
            </a:extLst>
          </p:cNvPr>
          <p:cNvSpPr/>
          <p:nvPr/>
        </p:nvSpPr>
        <p:spPr>
          <a:xfrm>
            <a:off x="179364" y="3321178"/>
            <a:ext cx="1487510" cy="312313"/>
          </a:xfrm>
          <a:prstGeom prst="snip1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Method</a:t>
            </a:r>
            <a:endParaRPr lang="en-PH" sz="1400" b="1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B198CB45-E041-E752-0E0F-3A0659B933D2}"/>
              </a:ext>
            </a:extLst>
          </p:cNvPr>
          <p:cNvSpPr>
            <a:spLocks/>
          </p:cNvSpPr>
          <p:nvPr/>
        </p:nvSpPr>
        <p:spPr>
          <a:xfrm>
            <a:off x="73240" y="5493977"/>
            <a:ext cx="12004459" cy="128600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7" name="Rectangle: Single Corner Snipped 76">
            <a:extLst>
              <a:ext uri="{FF2B5EF4-FFF2-40B4-BE49-F238E27FC236}">
                <a16:creationId xmlns:a16="http://schemas.microsoft.com/office/drawing/2014/main" id="{59FE9D2E-385E-0218-5943-12B3CD769A49}"/>
              </a:ext>
            </a:extLst>
          </p:cNvPr>
          <p:cNvSpPr/>
          <p:nvPr/>
        </p:nvSpPr>
        <p:spPr>
          <a:xfrm>
            <a:off x="179364" y="5288983"/>
            <a:ext cx="1824696" cy="312313"/>
          </a:xfrm>
          <a:prstGeom prst="snip1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Success Measures</a:t>
            </a:r>
            <a:endParaRPr lang="en-PH" sz="1400" b="1" dirty="0"/>
          </a:p>
        </p:txBody>
      </p:sp>
      <p:sp>
        <p:nvSpPr>
          <p:cNvPr id="94" name="Flowchart: Connector 93">
            <a:extLst>
              <a:ext uri="{FF2B5EF4-FFF2-40B4-BE49-F238E27FC236}">
                <a16:creationId xmlns:a16="http://schemas.microsoft.com/office/drawing/2014/main" id="{31F9477F-725A-D51F-4163-CEE581F3193C}"/>
              </a:ext>
            </a:extLst>
          </p:cNvPr>
          <p:cNvSpPr/>
          <p:nvPr/>
        </p:nvSpPr>
        <p:spPr>
          <a:xfrm>
            <a:off x="931401" y="3714468"/>
            <a:ext cx="1075926" cy="997857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B111CBFE-99ED-38A5-166D-0B43A9FA5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164" y="3744509"/>
            <a:ext cx="914400" cy="914400"/>
          </a:xfrm>
          <a:prstGeom prst="rect">
            <a:avLst/>
          </a:prstGeom>
        </p:spPr>
      </p:pic>
      <p:sp>
        <p:nvSpPr>
          <p:cNvPr id="96" name="Title 1">
            <a:extLst>
              <a:ext uri="{FF2B5EF4-FFF2-40B4-BE49-F238E27FC236}">
                <a16:creationId xmlns:a16="http://schemas.microsoft.com/office/drawing/2014/main" id="{98153590-2484-18BA-C88F-9F0490276BE7}"/>
              </a:ext>
            </a:extLst>
          </p:cNvPr>
          <p:cNvSpPr txBox="1">
            <a:spLocks/>
          </p:cNvSpPr>
          <p:nvPr/>
        </p:nvSpPr>
        <p:spPr>
          <a:xfrm>
            <a:off x="387408" y="4601401"/>
            <a:ext cx="2163911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Transaction Data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Online retail transactions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8" name="Flowchart: Connector 97">
            <a:extLst>
              <a:ext uri="{FF2B5EF4-FFF2-40B4-BE49-F238E27FC236}">
                <a16:creationId xmlns:a16="http://schemas.microsoft.com/office/drawing/2014/main" id="{2C6B2463-FB35-F615-BDEE-CED2738C16A7}"/>
              </a:ext>
            </a:extLst>
          </p:cNvPr>
          <p:cNvSpPr/>
          <p:nvPr/>
        </p:nvSpPr>
        <p:spPr>
          <a:xfrm>
            <a:off x="4229317" y="3716382"/>
            <a:ext cx="1075926" cy="997857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9" name="Graphic 28" descr="List with solid fill">
            <a:extLst>
              <a:ext uri="{FF2B5EF4-FFF2-40B4-BE49-F238E27FC236}">
                <a16:creationId xmlns:a16="http://schemas.microsoft.com/office/drawing/2014/main" id="{4F2F5188-AA1E-CBC4-FE25-3E0362A8D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2068" y="3780076"/>
            <a:ext cx="870467" cy="870467"/>
          </a:xfrm>
          <a:prstGeom prst="rect">
            <a:avLst/>
          </a:prstGeom>
        </p:spPr>
      </p:pic>
      <p:sp>
        <p:nvSpPr>
          <p:cNvPr id="100" name="Title 1">
            <a:extLst>
              <a:ext uri="{FF2B5EF4-FFF2-40B4-BE49-F238E27FC236}">
                <a16:creationId xmlns:a16="http://schemas.microsoft.com/office/drawing/2014/main" id="{A819DC0B-1C8A-292C-CE8D-2A4658C36921}"/>
              </a:ext>
            </a:extLst>
          </p:cNvPr>
          <p:cNvSpPr txBox="1">
            <a:spLocks/>
          </p:cNvSpPr>
          <p:nvPr/>
        </p:nvSpPr>
        <p:spPr>
          <a:xfrm>
            <a:off x="3399759" y="4617073"/>
            <a:ext cx="2735041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RFM Features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Recency – Frequency - Monetary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A41CF304-3459-8B27-1FA0-F270FA66B82C}"/>
              </a:ext>
            </a:extLst>
          </p:cNvPr>
          <p:cNvSpPr/>
          <p:nvPr/>
        </p:nvSpPr>
        <p:spPr>
          <a:xfrm>
            <a:off x="7527233" y="3688986"/>
            <a:ext cx="1118040" cy="1023339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F106C032-702D-8BAD-EF6D-12BB7C447444}"/>
              </a:ext>
            </a:extLst>
          </p:cNvPr>
          <p:cNvSpPr/>
          <p:nvPr/>
        </p:nvSpPr>
        <p:spPr>
          <a:xfrm>
            <a:off x="8030314" y="4067191"/>
            <a:ext cx="519312" cy="460502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0A8F9AEC-2ABF-21D0-7D7F-60BD365873D9}"/>
              </a:ext>
            </a:extLst>
          </p:cNvPr>
          <p:cNvSpPr/>
          <p:nvPr/>
        </p:nvSpPr>
        <p:spPr>
          <a:xfrm>
            <a:off x="7841205" y="3748282"/>
            <a:ext cx="519312" cy="460502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5" name="Flowchart: Connector 84">
            <a:extLst>
              <a:ext uri="{FF2B5EF4-FFF2-40B4-BE49-F238E27FC236}">
                <a16:creationId xmlns:a16="http://schemas.microsoft.com/office/drawing/2014/main" id="{1AF0D7FD-9B66-6163-BCB7-60FE737018AF}"/>
              </a:ext>
            </a:extLst>
          </p:cNvPr>
          <p:cNvSpPr/>
          <p:nvPr/>
        </p:nvSpPr>
        <p:spPr>
          <a:xfrm>
            <a:off x="7566941" y="4040387"/>
            <a:ext cx="519312" cy="460502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7" name="Graphic 86" descr="Children with solid fill">
            <a:extLst>
              <a:ext uri="{FF2B5EF4-FFF2-40B4-BE49-F238E27FC236}">
                <a16:creationId xmlns:a16="http://schemas.microsoft.com/office/drawing/2014/main" id="{FD762B80-6820-00B3-70C1-96DD42AB8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5147" y="4118068"/>
            <a:ext cx="313152" cy="313152"/>
          </a:xfrm>
          <a:prstGeom prst="rect">
            <a:avLst/>
          </a:prstGeom>
        </p:spPr>
      </p:pic>
      <p:pic>
        <p:nvPicPr>
          <p:cNvPr id="89" name="Graphic 88" descr="Children with solid fill">
            <a:extLst>
              <a:ext uri="{FF2B5EF4-FFF2-40B4-BE49-F238E27FC236}">
                <a16:creationId xmlns:a16="http://schemas.microsoft.com/office/drawing/2014/main" id="{6B18F695-2A1B-7305-A935-038EB1B31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0847" y="3817951"/>
            <a:ext cx="313152" cy="313152"/>
          </a:xfrm>
          <a:prstGeom prst="rect">
            <a:avLst/>
          </a:prstGeom>
        </p:spPr>
      </p:pic>
      <p:pic>
        <p:nvPicPr>
          <p:cNvPr id="91" name="Graphic 90" descr="Children with solid fill">
            <a:extLst>
              <a:ext uri="{FF2B5EF4-FFF2-40B4-BE49-F238E27FC236}">
                <a16:creationId xmlns:a16="http://schemas.microsoft.com/office/drawing/2014/main" id="{5631F133-F3FD-6115-A923-90166BFE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4413" y="4144649"/>
            <a:ext cx="313152" cy="313152"/>
          </a:xfrm>
          <a:prstGeom prst="rect">
            <a:avLst/>
          </a:prstGeom>
        </p:spPr>
      </p:pic>
      <p:sp>
        <p:nvSpPr>
          <p:cNvPr id="105" name="Title 1">
            <a:extLst>
              <a:ext uri="{FF2B5EF4-FFF2-40B4-BE49-F238E27FC236}">
                <a16:creationId xmlns:a16="http://schemas.microsoft.com/office/drawing/2014/main" id="{3EC32FF9-A4E5-A86E-2EC5-939BA3CB509F}"/>
              </a:ext>
            </a:extLst>
          </p:cNvPr>
          <p:cNvSpPr txBox="1">
            <a:spLocks/>
          </p:cNvSpPr>
          <p:nvPr/>
        </p:nvSpPr>
        <p:spPr>
          <a:xfrm>
            <a:off x="6718732" y="4634840"/>
            <a:ext cx="2735041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K-Means Clustering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Unsupervised learning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7" name="Flowchart: Connector 106">
            <a:extLst>
              <a:ext uri="{FF2B5EF4-FFF2-40B4-BE49-F238E27FC236}">
                <a16:creationId xmlns:a16="http://schemas.microsoft.com/office/drawing/2014/main" id="{1E81EDEE-0D32-AA65-23C7-796DBF2AE79A}"/>
              </a:ext>
            </a:extLst>
          </p:cNvPr>
          <p:cNvSpPr/>
          <p:nvPr/>
        </p:nvSpPr>
        <p:spPr>
          <a:xfrm>
            <a:off x="10262274" y="3710655"/>
            <a:ext cx="1075926" cy="997857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7" name="Graphic 26" descr="Users with solid fill">
            <a:extLst>
              <a:ext uri="{FF2B5EF4-FFF2-40B4-BE49-F238E27FC236}">
                <a16:creationId xmlns:a16="http://schemas.microsoft.com/office/drawing/2014/main" id="{DF8D1BBC-56A2-58FB-CE58-E82E38254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45181" y="3785072"/>
            <a:ext cx="445984" cy="445984"/>
          </a:xfrm>
          <a:prstGeom prst="rect">
            <a:avLst/>
          </a:prstGeom>
        </p:spPr>
      </p:pic>
      <p:pic>
        <p:nvPicPr>
          <p:cNvPr id="109" name="Graphic 108" descr="Users with solid fill">
            <a:extLst>
              <a:ext uri="{FF2B5EF4-FFF2-40B4-BE49-F238E27FC236}">
                <a16:creationId xmlns:a16="http://schemas.microsoft.com/office/drawing/2014/main" id="{ECF25602-5889-EE54-A3D6-E4693978DB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54253" y="4165969"/>
            <a:ext cx="445984" cy="445984"/>
          </a:xfrm>
          <a:prstGeom prst="rect">
            <a:avLst/>
          </a:prstGeom>
        </p:spPr>
      </p:pic>
      <p:pic>
        <p:nvPicPr>
          <p:cNvPr id="111" name="Graphic 110" descr="Users with solid fill">
            <a:extLst>
              <a:ext uri="{FF2B5EF4-FFF2-40B4-BE49-F238E27FC236}">
                <a16:creationId xmlns:a16="http://schemas.microsoft.com/office/drawing/2014/main" id="{4F29FC0A-BC0B-F547-364A-0212A2D9A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67263" y="3999123"/>
            <a:ext cx="445984" cy="445984"/>
          </a:xfrm>
          <a:prstGeom prst="rect">
            <a:avLst/>
          </a:prstGeom>
        </p:spPr>
      </p:pic>
      <p:sp>
        <p:nvSpPr>
          <p:cNvPr id="113" name="Title 1">
            <a:extLst>
              <a:ext uri="{FF2B5EF4-FFF2-40B4-BE49-F238E27FC236}">
                <a16:creationId xmlns:a16="http://schemas.microsoft.com/office/drawing/2014/main" id="{65C867AE-D893-3A3A-A046-69477696F4F4}"/>
              </a:ext>
            </a:extLst>
          </p:cNvPr>
          <p:cNvSpPr txBox="1">
            <a:spLocks/>
          </p:cNvSpPr>
          <p:nvPr/>
        </p:nvSpPr>
        <p:spPr>
          <a:xfrm>
            <a:off x="9432716" y="4617073"/>
            <a:ext cx="2735041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Segments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Distinct customer groups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5" name="Graphic 114" descr="Arrow Right with solid fill">
            <a:extLst>
              <a:ext uri="{FF2B5EF4-FFF2-40B4-BE49-F238E27FC236}">
                <a16:creationId xmlns:a16="http://schemas.microsoft.com/office/drawing/2014/main" id="{39A0900D-E31F-AB2C-569D-52565487A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59525" y="3780076"/>
            <a:ext cx="914400" cy="914400"/>
          </a:xfrm>
          <a:prstGeom prst="rect">
            <a:avLst/>
          </a:prstGeom>
        </p:spPr>
      </p:pic>
      <p:pic>
        <p:nvPicPr>
          <p:cNvPr id="117" name="Graphic 116" descr="Arrow Right with solid fill">
            <a:extLst>
              <a:ext uri="{FF2B5EF4-FFF2-40B4-BE49-F238E27FC236}">
                <a16:creationId xmlns:a16="http://schemas.microsoft.com/office/drawing/2014/main" id="{A811F6C5-E9F1-B2BD-68A7-289982001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9038" y="3773253"/>
            <a:ext cx="914400" cy="914400"/>
          </a:xfrm>
          <a:prstGeom prst="rect">
            <a:avLst/>
          </a:prstGeom>
        </p:spPr>
      </p:pic>
      <p:pic>
        <p:nvPicPr>
          <p:cNvPr id="119" name="Graphic 118" descr="Arrow Right with solid fill">
            <a:extLst>
              <a:ext uri="{FF2B5EF4-FFF2-40B4-BE49-F238E27FC236}">
                <a16:creationId xmlns:a16="http://schemas.microsoft.com/office/drawing/2014/main" id="{6F3B4081-87BD-7252-7CF2-CA200941B7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0086" y="3764915"/>
            <a:ext cx="914400" cy="914400"/>
          </a:xfrm>
          <a:prstGeom prst="rect">
            <a:avLst/>
          </a:prstGeom>
        </p:spPr>
      </p:pic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B1694E5A-D0DF-5C12-823E-09EF7BC7A410}"/>
              </a:ext>
            </a:extLst>
          </p:cNvPr>
          <p:cNvSpPr/>
          <p:nvPr/>
        </p:nvSpPr>
        <p:spPr>
          <a:xfrm>
            <a:off x="533698" y="5681941"/>
            <a:ext cx="2672331" cy="9590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DB85F87-CC31-E275-350A-F27E51E2ABFB}"/>
              </a:ext>
            </a:extLst>
          </p:cNvPr>
          <p:cNvSpPr/>
          <p:nvPr/>
        </p:nvSpPr>
        <p:spPr>
          <a:xfrm>
            <a:off x="3462281" y="5669669"/>
            <a:ext cx="2672331" cy="9590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A40F413-81D2-A5EB-3725-E99AD814DBAD}"/>
              </a:ext>
            </a:extLst>
          </p:cNvPr>
          <p:cNvSpPr/>
          <p:nvPr/>
        </p:nvSpPr>
        <p:spPr>
          <a:xfrm>
            <a:off x="6386311" y="5670836"/>
            <a:ext cx="2672331" cy="9590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AE76B7A3-60B0-64BD-0C78-28AD2D77825C}"/>
              </a:ext>
            </a:extLst>
          </p:cNvPr>
          <p:cNvSpPr/>
          <p:nvPr/>
        </p:nvSpPr>
        <p:spPr>
          <a:xfrm>
            <a:off x="9310341" y="5672127"/>
            <a:ext cx="2672331" cy="9590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23" name="Graphic 22" descr="Bar chart with solid fill">
            <a:extLst>
              <a:ext uri="{FF2B5EF4-FFF2-40B4-BE49-F238E27FC236}">
                <a16:creationId xmlns:a16="http://schemas.microsoft.com/office/drawing/2014/main" id="{99C052C9-5C27-3A7C-F7CE-9A23C5D328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8266" y="5839401"/>
            <a:ext cx="619963" cy="619963"/>
          </a:xfrm>
          <a:prstGeom prst="rect">
            <a:avLst/>
          </a:prstGeom>
        </p:spPr>
      </p:pic>
      <p:sp>
        <p:nvSpPr>
          <p:cNvPr id="129" name="Title 1">
            <a:extLst>
              <a:ext uri="{FF2B5EF4-FFF2-40B4-BE49-F238E27FC236}">
                <a16:creationId xmlns:a16="http://schemas.microsoft.com/office/drawing/2014/main" id="{618C3E05-36C9-A985-C5DF-54E5ED2FFE45}"/>
              </a:ext>
            </a:extLst>
          </p:cNvPr>
          <p:cNvSpPr txBox="1">
            <a:spLocks/>
          </p:cNvSpPr>
          <p:nvPr/>
        </p:nvSpPr>
        <p:spPr>
          <a:xfrm>
            <a:off x="1225130" y="5826202"/>
            <a:ext cx="2163911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Silhouette Score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Measures cluster separation and cohesion.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Graphic 20" descr="Network with solid fill">
            <a:extLst>
              <a:ext uri="{FF2B5EF4-FFF2-40B4-BE49-F238E27FC236}">
                <a16:creationId xmlns:a16="http://schemas.microsoft.com/office/drawing/2014/main" id="{96104B3B-5696-BD18-BCBC-6518FD7110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83697" y="5850974"/>
            <a:ext cx="619963" cy="619963"/>
          </a:xfrm>
          <a:prstGeom prst="rect">
            <a:avLst/>
          </a:prstGeom>
        </p:spPr>
      </p:pic>
      <p:sp>
        <p:nvSpPr>
          <p:cNvPr id="131" name="Title 1">
            <a:extLst>
              <a:ext uri="{FF2B5EF4-FFF2-40B4-BE49-F238E27FC236}">
                <a16:creationId xmlns:a16="http://schemas.microsoft.com/office/drawing/2014/main" id="{480DC39F-EF4D-362E-2D9E-D7D8249338F6}"/>
              </a:ext>
            </a:extLst>
          </p:cNvPr>
          <p:cNvSpPr txBox="1">
            <a:spLocks/>
          </p:cNvSpPr>
          <p:nvPr/>
        </p:nvSpPr>
        <p:spPr>
          <a:xfrm>
            <a:off x="4170233" y="5812113"/>
            <a:ext cx="1920849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Davies-Bouldin Index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Evaluates cluster compactness and distinctness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" name="Graphic 18" descr="Single gear with solid fill">
            <a:extLst>
              <a:ext uri="{FF2B5EF4-FFF2-40B4-BE49-F238E27FC236}">
                <a16:creationId xmlns:a16="http://schemas.microsoft.com/office/drawing/2014/main" id="{9BE87774-792D-5059-1A6F-F5A3402A2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09056" y="5839593"/>
            <a:ext cx="619963" cy="619963"/>
          </a:xfrm>
          <a:prstGeom prst="rect">
            <a:avLst/>
          </a:prstGeom>
        </p:spPr>
      </p:pic>
      <p:sp>
        <p:nvSpPr>
          <p:cNvPr id="133" name="Title 1">
            <a:extLst>
              <a:ext uri="{FF2B5EF4-FFF2-40B4-BE49-F238E27FC236}">
                <a16:creationId xmlns:a16="http://schemas.microsoft.com/office/drawing/2014/main" id="{18F4BEA1-3BF4-D88B-0605-D7931F5BCC17}"/>
              </a:ext>
            </a:extLst>
          </p:cNvPr>
          <p:cNvSpPr txBox="1">
            <a:spLocks/>
          </p:cNvSpPr>
          <p:nvPr/>
        </p:nvSpPr>
        <p:spPr>
          <a:xfrm>
            <a:off x="7099646" y="5826019"/>
            <a:ext cx="1920849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Cluster Stability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Consistent results across different runs.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7" name="Graphic 16" descr="Lightbulb with solid fill">
            <a:extLst>
              <a:ext uri="{FF2B5EF4-FFF2-40B4-BE49-F238E27FC236}">
                <a16:creationId xmlns:a16="http://schemas.microsoft.com/office/drawing/2014/main" id="{3587103D-A4D9-612D-E575-EDFA7CC4B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31700" y="5822419"/>
            <a:ext cx="619963" cy="619963"/>
          </a:xfrm>
          <a:prstGeom prst="rect">
            <a:avLst/>
          </a:prstGeom>
        </p:spPr>
      </p:pic>
      <p:sp>
        <p:nvSpPr>
          <p:cNvPr id="135" name="Title 1">
            <a:extLst>
              <a:ext uri="{FF2B5EF4-FFF2-40B4-BE49-F238E27FC236}">
                <a16:creationId xmlns:a16="http://schemas.microsoft.com/office/drawing/2014/main" id="{DC248C8B-AA1A-691C-EB62-40B674DFF5BC}"/>
              </a:ext>
            </a:extLst>
          </p:cNvPr>
          <p:cNvSpPr txBox="1">
            <a:spLocks/>
          </p:cNvSpPr>
          <p:nvPr/>
        </p:nvSpPr>
        <p:spPr>
          <a:xfrm>
            <a:off x="9827983" y="5831697"/>
            <a:ext cx="2166929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Business Interpretability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Segments are meaningful and actionable for the retailer.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33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D82B5-3EA8-DE3B-6CD2-EA1DB9191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CFC888-82BD-5B9E-C4B6-00AD8FD02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E9E98-5823-E78B-3331-A9100E31D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26043-25F6-751D-7FF7-DE66A7025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7FEA8-64F5-6236-DABB-E0B32A163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A8B60-ED0D-0047-E404-C5BBAF73C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88566-984D-A5C5-FE59-FFC4DD9E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03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Dataset Collection &amp; Understanding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FBD069-88B1-44A4-6BEA-012E87B44A28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610F3-FB9E-AC9D-1E1C-C2FE9EC280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7" y="722777"/>
            <a:ext cx="12191996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EF0437F-4606-8DE1-9913-D164947D4362}"/>
              </a:ext>
            </a:extLst>
          </p:cNvPr>
          <p:cNvSpPr txBox="1">
            <a:spLocks/>
          </p:cNvSpPr>
          <p:nvPr/>
        </p:nvSpPr>
        <p:spPr>
          <a:xfrm>
            <a:off x="3195691" y="795370"/>
            <a:ext cx="6259964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Collect &amp; Understand The Data</a:t>
            </a:r>
            <a:endParaRPr lang="en-PH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22DC8A-D8E7-ABD1-C54F-C54894F825CB}"/>
              </a:ext>
            </a:extLst>
          </p:cNvPr>
          <p:cNvSpPr txBox="1">
            <a:spLocks/>
          </p:cNvSpPr>
          <p:nvPr/>
        </p:nvSpPr>
        <p:spPr>
          <a:xfrm>
            <a:off x="4244026" y="1179441"/>
            <a:ext cx="4140128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UCI Online Retail Dataset Overview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A2140642-02BB-8320-B4AF-6FA31CCD1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0252" y="1590741"/>
            <a:ext cx="2697848" cy="2697848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75385EC-99C9-1D00-5757-38E205403D6E}"/>
              </a:ext>
            </a:extLst>
          </p:cNvPr>
          <p:cNvSpPr/>
          <p:nvPr/>
        </p:nvSpPr>
        <p:spPr>
          <a:xfrm>
            <a:off x="4470926" y="3819299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541,909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Transaction Records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94F779-D0A5-04EA-8C6B-B888AD5D6289}"/>
              </a:ext>
            </a:extLst>
          </p:cNvPr>
          <p:cNvSpPr/>
          <p:nvPr/>
        </p:nvSpPr>
        <p:spPr>
          <a:xfrm>
            <a:off x="8528576" y="1724669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38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Countries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913572E-52E8-1C49-A1FA-1449D46F1FD6}"/>
              </a:ext>
            </a:extLst>
          </p:cNvPr>
          <p:cNvSpPr/>
          <p:nvPr/>
        </p:nvSpPr>
        <p:spPr>
          <a:xfrm>
            <a:off x="421539" y="1325470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4,372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Customers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2" name="Graphic 31" descr="Earth Globe - Asia with solid fill">
            <a:extLst>
              <a:ext uri="{FF2B5EF4-FFF2-40B4-BE49-F238E27FC236}">
                <a16:creationId xmlns:a16="http://schemas.microsoft.com/office/drawing/2014/main" id="{DA45A225-C993-1114-8AF0-E6B314563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9039" y="1830508"/>
            <a:ext cx="914400" cy="914400"/>
          </a:xfrm>
          <a:prstGeom prst="rect">
            <a:avLst/>
          </a:prstGeom>
        </p:spPr>
      </p:pic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0B73BCA-7AE1-1D32-20C1-E8F3F45EC3DB}"/>
              </a:ext>
            </a:extLst>
          </p:cNvPr>
          <p:cNvSpPr/>
          <p:nvPr/>
        </p:nvSpPr>
        <p:spPr>
          <a:xfrm>
            <a:off x="8528575" y="3148137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 Year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Time Period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8" name="Graphic 27" descr="Daily calendar with solid fill">
            <a:extLst>
              <a:ext uri="{FF2B5EF4-FFF2-40B4-BE49-F238E27FC236}">
                <a16:creationId xmlns:a16="http://schemas.microsoft.com/office/drawing/2014/main" id="{4D2AB6CE-CAD6-F808-1C09-2F1E7043E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4934" y="3253977"/>
            <a:ext cx="914400" cy="914400"/>
          </a:xfrm>
          <a:prstGeom prst="rect">
            <a:avLst/>
          </a:prstGeom>
        </p:spPr>
      </p:pic>
      <p:pic>
        <p:nvPicPr>
          <p:cNvPr id="44" name="Graphic 43" descr="Users with solid fill">
            <a:extLst>
              <a:ext uri="{FF2B5EF4-FFF2-40B4-BE49-F238E27FC236}">
                <a16:creationId xmlns:a16="http://schemas.microsoft.com/office/drawing/2014/main" id="{63494805-E0C3-EBC4-F5FA-A44014E444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608" y="1453277"/>
            <a:ext cx="870466" cy="870466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6B42CD0-7682-4F07-2A1D-9069E90C31D8}"/>
              </a:ext>
            </a:extLst>
          </p:cNvPr>
          <p:cNvSpPr/>
          <p:nvPr/>
        </p:nvSpPr>
        <p:spPr>
          <a:xfrm>
            <a:off x="427891" y="2733324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4,070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Products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6" name="Graphic 35" descr="Box with solid fill">
            <a:extLst>
              <a:ext uri="{FF2B5EF4-FFF2-40B4-BE49-F238E27FC236}">
                <a16:creationId xmlns:a16="http://schemas.microsoft.com/office/drawing/2014/main" id="{9EA3490D-A4C5-315B-9E19-67FD2A90D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608" y="2836849"/>
            <a:ext cx="914400" cy="9144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B4227FC-05E9-7F2C-86B9-BB8E12ED6D1A}"/>
              </a:ext>
            </a:extLst>
          </p:cNvPr>
          <p:cNvSpPr/>
          <p:nvPr/>
        </p:nvSpPr>
        <p:spPr>
          <a:xfrm>
            <a:off x="421535" y="4141178"/>
            <a:ext cx="3250143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25,900</a:t>
            </a:r>
          </a:p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Invoices</a:t>
            </a:r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46" name="Graphic 45" descr="List with solid fill">
            <a:extLst>
              <a:ext uri="{FF2B5EF4-FFF2-40B4-BE49-F238E27FC236}">
                <a16:creationId xmlns:a16="http://schemas.microsoft.com/office/drawing/2014/main" id="{8A589102-6A2D-5084-D828-52EAAD265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607" y="4288589"/>
            <a:ext cx="870467" cy="870467"/>
          </a:xfrm>
          <a:prstGeom prst="rect">
            <a:avLst/>
          </a:prstGeom>
        </p:spPr>
      </p:pic>
      <p:pic>
        <p:nvPicPr>
          <p:cNvPr id="52" name="Graphic 51" descr="Chevron arrows with solid fill">
            <a:extLst>
              <a:ext uri="{FF2B5EF4-FFF2-40B4-BE49-F238E27FC236}">
                <a16:creationId xmlns:a16="http://schemas.microsoft.com/office/drawing/2014/main" id="{9B19CE36-CF62-BB4C-51BE-1C4769EE7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7375" y="2836849"/>
            <a:ext cx="914400" cy="914400"/>
          </a:xfrm>
          <a:prstGeom prst="rect">
            <a:avLst/>
          </a:prstGeom>
        </p:spPr>
      </p:pic>
      <p:pic>
        <p:nvPicPr>
          <p:cNvPr id="55" name="Graphic 54" descr="Chevron arrows with solid fill">
            <a:extLst>
              <a:ext uri="{FF2B5EF4-FFF2-40B4-BE49-F238E27FC236}">
                <a16:creationId xmlns:a16="http://schemas.microsoft.com/office/drawing/2014/main" id="{8471EAA0-858C-B315-A8D0-48D818DA0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7270226" y="2796777"/>
            <a:ext cx="914400" cy="914400"/>
          </a:xfrm>
          <a:prstGeom prst="rect">
            <a:avLst/>
          </a:prstGeom>
        </p:spPr>
      </p:pic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7D0934A-2F6B-BB28-689C-F34B56953A24}"/>
              </a:ext>
            </a:extLst>
          </p:cNvPr>
          <p:cNvSpPr/>
          <p:nvPr/>
        </p:nvSpPr>
        <p:spPr>
          <a:xfrm>
            <a:off x="1996440" y="5419046"/>
            <a:ext cx="8412479" cy="11260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935B3058-DD2D-552A-EE89-022F8AF72010}"/>
              </a:ext>
            </a:extLst>
          </p:cNvPr>
          <p:cNvSpPr txBox="1">
            <a:spLocks/>
          </p:cNvSpPr>
          <p:nvPr/>
        </p:nvSpPr>
        <p:spPr>
          <a:xfrm>
            <a:off x="4155725" y="5649004"/>
            <a:ext cx="6192235" cy="670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 Variables </a:t>
            </a:r>
          </a:p>
          <a:p>
            <a:endParaRPr lang="en-US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InvoiceNo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PH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· </a:t>
            </a:r>
            <a:r>
              <a:rPr lang="en-PH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StockCode</a:t>
            </a:r>
            <a:r>
              <a:rPr lang="en-PH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· Description · Quantity · </a:t>
            </a:r>
            <a:r>
              <a:rPr lang="en-PH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InvoiceDate</a:t>
            </a:r>
            <a:r>
              <a:rPr lang="en-PH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· </a:t>
            </a:r>
            <a:r>
              <a:rPr lang="en-PH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UnitPrice</a:t>
            </a:r>
            <a:r>
              <a:rPr lang="en-PH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· </a:t>
            </a:r>
            <a:r>
              <a:rPr lang="en-PH" sz="16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CustomerID</a:t>
            </a:r>
            <a:r>
              <a:rPr lang="en-PH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· Country</a:t>
            </a:r>
          </a:p>
        </p:txBody>
      </p:sp>
      <p:pic>
        <p:nvPicPr>
          <p:cNvPr id="65" name="Graphic 64" descr="Server with solid fill">
            <a:extLst>
              <a:ext uri="{FF2B5EF4-FFF2-40B4-BE49-F238E27FC236}">
                <a16:creationId xmlns:a16="http://schemas.microsoft.com/office/drawing/2014/main" id="{D857F8FE-9812-1F6C-EBB2-A6D3D7C18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7476" y="5513301"/>
            <a:ext cx="914400" cy="91440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0605E6B-B11B-4C6D-3564-9C50EED32298}"/>
              </a:ext>
            </a:extLst>
          </p:cNvPr>
          <p:cNvCxnSpPr/>
          <p:nvPr/>
        </p:nvCxnSpPr>
        <p:spPr>
          <a:xfrm>
            <a:off x="3733800" y="5579489"/>
            <a:ext cx="0" cy="86868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02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5A4A6-961B-AA38-7241-E65CBBBC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8FDC6DA-AE9F-2BD8-6F9D-0E14C8F8C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6CD18E-45F7-428B-2895-428FD4B65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928BD5-D5F4-6C17-8EDD-56E0E9345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A5B1A-EED4-8591-90C3-3DD14A10A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CFFDF5-FD0C-6B49-44C3-C98432F81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B9A46-5B85-1D4A-1B9D-37F580E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04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Data Preprocessing &amp; Quality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A68360-74DD-BE94-0CCD-74D781ECF9E2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CF23D-AFC8-A321-4097-A67158FCC1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F12D8B5-6430-35F8-9542-C102F1CC9294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9748949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Ensure Proper Preprocessing &amp; Data Quality</a:t>
            </a:r>
            <a:endParaRPr lang="en-PH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CB32408-1394-DF7B-038B-64A883F096CD}"/>
              </a:ext>
            </a:extLst>
          </p:cNvPr>
          <p:cNvSpPr txBox="1">
            <a:spLocks/>
          </p:cNvSpPr>
          <p:nvPr/>
        </p:nvSpPr>
        <p:spPr>
          <a:xfrm>
            <a:off x="190498" y="1175837"/>
            <a:ext cx="595884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Identifying and handling data quality issues in the raw dataset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8EE95B36-5E07-0664-CDEE-89952BC70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2212" y="2018811"/>
            <a:ext cx="1830639" cy="1830639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DB696D-F81E-9E31-DA3B-8E9393A6379F}"/>
              </a:ext>
            </a:extLst>
          </p:cNvPr>
          <p:cNvSpPr/>
          <p:nvPr/>
        </p:nvSpPr>
        <p:spPr>
          <a:xfrm>
            <a:off x="243839" y="1662050"/>
            <a:ext cx="4610098" cy="35829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Data Quality Issues (Raw Dataset)</a:t>
            </a:r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6C9112-C88E-DC18-357A-C8D066C38B4E}"/>
              </a:ext>
            </a:extLst>
          </p:cNvPr>
          <p:cNvSpPr/>
          <p:nvPr/>
        </p:nvSpPr>
        <p:spPr>
          <a:xfrm>
            <a:off x="5524500" y="1668337"/>
            <a:ext cx="6310576" cy="35829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From Raw Data To Clean Data</a:t>
            </a:r>
            <a:endParaRPr lang="en-PH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DBF186-F689-1A9B-81F0-E6D6759D8F42}"/>
              </a:ext>
            </a:extLst>
          </p:cNvPr>
          <p:cNvCxnSpPr/>
          <p:nvPr/>
        </p:nvCxnSpPr>
        <p:spPr>
          <a:xfrm>
            <a:off x="5219700" y="1893070"/>
            <a:ext cx="0" cy="454914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B15F6D-8A26-3469-F111-9F1D955F4DA2}"/>
              </a:ext>
            </a:extLst>
          </p:cNvPr>
          <p:cNvSpPr/>
          <p:nvPr/>
        </p:nvSpPr>
        <p:spPr>
          <a:xfrm>
            <a:off x="243839" y="2126702"/>
            <a:ext cx="4610098" cy="496300"/>
          </a:xfrm>
          <a:prstGeom prst="roundRect">
            <a:avLst/>
          </a:prstGeom>
          <a:solidFill>
            <a:srgbClr val="F9EAED"/>
          </a:solidFill>
          <a:ln>
            <a:solidFill>
              <a:srgbClr val="F9E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800020"/>
                </a:solidFill>
              </a:rPr>
              <a:t>135,080</a:t>
            </a:r>
            <a:r>
              <a:rPr lang="en-US" dirty="0">
                <a:solidFill>
                  <a:srgbClr val="800020"/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missing customer ID</a:t>
            </a:r>
            <a:endParaRPr lang="en-PH" dirty="0">
              <a:solidFill>
                <a:srgbClr val="800020"/>
              </a:solidFill>
            </a:endParaRPr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F4FA58D3-0C57-90AB-CA6F-218745914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849" y="2013941"/>
            <a:ext cx="1830639" cy="1830639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00AE27-CB81-836F-83BE-1E8B87B8F290}"/>
              </a:ext>
            </a:extLst>
          </p:cNvPr>
          <p:cNvSpPr/>
          <p:nvPr/>
        </p:nvSpPr>
        <p:spPr>
          <a:xfrm>
            <a:off x="243839" y="2702511"/>
            <a:ext cx="4610098" cy="4963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accent2"/>
                </a:solidFill>
              </a:rPr>
              <a:t>135,080</a:t>
            </a:r>
            <a:r>
              <a:rPr lang="en-US" dirty="0">
                <a:solidFill>
                  <a:srgbClr val="800020"/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negative quantities</a:t>
            </a:r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ACBA12-416E-CC38-CC36-2B54FB39F4A6}"/>
              </a:ext>
            </a:extLst>
          </p:cNvPr>
          <p:cNvSpPr/>
          <p:nvPr/>
        </p:nvSpPr>
        <p:spPr>
          <a:xfrm>
            <a:off x="243839" y="3278320"/>
            <a:ext cx="4610098" cy="496300"/>
          </a:xfrm>
          <a:prstGeom prst="roundRect">
            <a:avLst/>
          </a:prstGeom>
          <a:solidFill>
            <a:srgbClr val="FAF3E7"/>
          </a:solidFill>
          <a:ln>
            <a:solidFill>
              <a:srgbClr val="FAF3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DDA922"/>
                </a:solidFill>
              </a:rPr>
              <a:t>2,517</a:t>
            </a:r>
            <a:r>
              <a:rPr lang="en-US" dirty="0">
                <a:solidFill>
                  <a:srgbClr val="800020"/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zero/negative unit prices</a:t>
            </a:r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2A44B05-1355-6E94-6A09-5BF30EE04ADB}"/>
              </a:ext>
            </a:extLst>
          </p:cNvPr>
          <p:cNvSpPr/>
          <p:nvPr/>
        </p:nvSpPr>
        <p:spPr>
          <a:xfrm>
            <a:off x="243839" y="3854129"/>
            <a:ext cx="4610098" cy="496300"/>
          </a:xfrm>
          <a:prstGeom prst="roundRect">
            <a:avLst/>
          </a:prstGeom>
          <a:solidFill>
            <a:srgbClr val="F9EAED"/>
          </a:solidFill>
          <a:ln>
            <a:solidFill>
              <a:srgbClr val="F9E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800020"/>
                </a:solidFill>
              </a:rPr>
              <a:t>9,288</a:t>
            </a:r>
            <a:r>
              <a:rPr lang="en-US" dirty="0">
                <a:solidFill>
                  <a:srgbClr val="800020"/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cancellation invoices</a:t>
            </a:r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0ECCD36-D3E0-B0A5-4816-3DD133579EB4}"/>
              </a:ext>
            </a:extLst>
          </p:cNvPr>
          <p:cNvSpPr/>
          <p:nvPr/>
        </p:nvSpPr>
        <p:spPr>
          <a:xfrm>
            <a:off x="243839" y="4429938"/>
            <a:ext cx="4610098" cy="4963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accent5"/>
                </a:solidFill>
              </a:rPr>
              <a:t>5,268</a:t>
            </a:r>
            <a:r>
              <a:rPr lang="en-US" dirty="0">
                <a:solidFill>
                  <a:srgbClr val="800020"/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duplicate rows</a:t>
            </a:r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44A6511-B2F4-3F52-F663-3990BF178174}"/>
              </a:ext>
            </a:extLst>
          </p:cNvPr>
          <p:cNvSpPr/>
          <p:nvPr/>
        </p:nvSpPr>
        <p:spPr>
          <a:xfrm>
            <a:off x="243839" y="5005746"/>
            <a:ext cx="4610098" cy="6050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accent4"/>
                </a:solidFill>
              </a:rPr>
              <a:t>-80,995 to 80,995</a:t>
            </a:r>
            <a:r>
              <a:rPr lang="en-US" dirty="0">
                <a:solidFill>
                  <a:srgbClr val="800020"/>
                </a:solidFill>
              </a:rPr>
              <a:t> 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algn="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Quantity range</a:t>
            </a:r>
            <a:endParaRPr lang="en-PH" b="1" dirty="0">
              <a:solidFill>
                <a:srgbClr val="800020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FDAD497-6397-4362-995D-48BDDB6325AA}"/>
              </a:ext>
            </a:extLst>
          </p:cNvPr>
          <p:cNvSpPr/>
          <p:nvPr/>
        </p:nvSpPr>
        <p:spPr>
          <a:xfrm>
            <a:off x="243839" y="5690267"/>
            <a:ext cx="4610098" cy="60501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00B050"/>
                </a:solidFill>
              </a:rPr>
              <a:t>-</a:t>
            </a:r>
            <a:r>
              <a:rPr lang="en-PH" sz="2400" b="1" dirty="0">
                <a:solidFill>
                  <a:srgbClr val="00B050"/>
                </a:solidFill>
              </a:rPr>
              <a:t>£11,062.06 to £38,970</a:t>
            </a:r>
            <a:endParaRPr lang="en-US" sz="2400" b="1" dirty="0">
              <a:solidFill>
                <a:srgbClr val="00B050"/>
              </a:solidFill>
            </a:endParaRPr>
          </a:p>
          <a:p>
            <a:pPr algn="r"/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Unit Price range</a:t>
            </a:r>
            <a:endParaRPr lang="en-PH" b="1" dirty="0">
              <a:solidFill>
                <a:srgbClr val="800020"/>
              </a:solidFill>
            </a:endParaRPr>
          </a:p>
        </p:txBody>
      </p:sp>
      <p:pic>
        <p:nvPicPr>
          <p:cNvPr id="49" name="Graphic 48" descr="Single gear with solid fill">
            <a:extLst>
              <a:ext uri="{FF2B5EF4-FFF2-40B4-BE49-F238E27FC236}">
                <a16:creationId xmlns:a16="http://schemas.microsoft.com/office/drawing/2014/main" id="{ACB5EB99-1B9F-3D11-2068-A86555DFA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8048" y="2514645"/>
            <a:ext cx="1060475" cy="1060475"/>
          </a:xfrm>
          <a:prstGeom prst="rect">
            <a:avLst/>
          </a:prstGeom>
        </p:spPr>
      </p:pic>
      <p:pic>
        <p:nvPicPr>
          <p:cNvPr id="60" name="Graphic 59" descr="Money outline">
            <a:extLst>
              <a:ext uri="{FF2B5EF4-FFF2-40B4-BE49-F238E27FC236}">
                <a16:creationId xmlns:a16="http://schemas.microsoft.com/office/drawing/2014/main" id="{5E64BF79-7E7A-B57E-6BA1-79D4A0A1D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494" y="5744623"/>
            <a:ext cx="496299" cy="496299"/>
          </a:xfrm>
          <a:prstGeom prst="rect">
            <a:avLst/>
          </a:prstGeom>
        </p:spPr>
      </p:pic>
      <p:pic>
        <p:nvPicPr>
          <p:cNvPr id="63" name="Graphic 62" descr="Bar graph with upward trend with solid fill">
            <a:extLst>
              <a:ext uri="{FF2B5EF4-FFF2-40B4-BE49-F238E27FC236}">
                <a16:creationId xmlns:a16="http://schemas.microsoft.com/office/drawing/2014/main" id="{3FCA5A7D-DFB6-1136-DF01-60F76521A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95" y="5060102"/>
            <a:ext cx="496299" cy="496299"/>
          </a:xfrm>
          <a:prstGeom prst="rect">
            <a:avLst/>
          </a:prstGeom>
        </p:spPr>
      </p:pic>
      <p:pic>
        <p:nvPicPr>
          <p:cNvPr id="66" name="Graphic 65" descr="Document with solid fill">
            <a:extLst>
              <a:ext uri="{FF2B5EF4-FFF2-40B4-BE49-F238E27FC236}">
                <a16:creationId xmlns:a16="http://schemas.microsoft.com/office/drawing/2014/main" id="{FD46553D-3294-104D-EEED-00BB9C79F1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495" y="4429939"/>
            <a:ext cx="496299" cy="496299"/>
          </a:xfrm>
          <a:prstGeom prst="rect">
            <a:avLst/>
          </a:prstGeom>
        </p:spPr>
      </p:pic>
      <p:pic>
        <p:nvPicPr>
          <p:cNvPr id="69" name="Graphic 68" descr="Close with solid fill">
            <a:extLst>
              <a:ext uri="{FF2B5EF4-FFF2-40B4-BE49-F238E27FC236}">
                <a16:creationId xmlns:a16="http://schemas.microsoft.com/office/drawing/2014/main" id="{A35D5081-DADC-6A23-3427-7325C1706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96" y="3867138"/>
            <a:ext cx="496299" cy="496299"/>
          </a:xfrm>
          <a:prstGeom prst="rect">
            <a:avLst/>
          </a:prstGeom>
        </p:spPr>
      </p:pic>
      <p:pic>
        <p:nvPicPr>
          <p:cNvPr id="71" name="Graphic 70" descr="Bad Inventory with solid fill">
            <a:extLst>
              <a:ext uri="{FF2B5EF4-FFF2-40B4-BE49-F238E27FC236}">
                <a16:creationId xmlns:a16="http://schemas.microsoft.com/office/drawing/2014/main" id="{0153CA2D-207D-8EE3-1A1B-40A8B32AB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496" y="2715523"/>
            <a:ext cx="496300" cy="496300"/>
          </a:xfrm>
          <a:prstGeom prst="rect">
            <a:avLst/>
          </a:prstGeom>
        </p:spPr>
      </p:pic>
      <p:pic>
        <p:nvPicPr>
          <p:cNvPr id="73" name="Graphic 72" descr="Warning with solid fill">
            <a:extLst>
              <a:ext uri="{FF2B5EF4-FFF2-40B4-BE49-F238E27FC236}">
                <a16:creationId xmlns:a16="http://schemas.microsoft.com/office/drawing/2014/main" id="{0BEC9C33-679F-40B0-8D90-1739BE1D8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496" y="2119784"/>
            <a:ext cx="496300" cy="496300"/>
          </a:xfrm>
          <a:prstGeom prst="rect">
            <a:avLst/>
          </a:prstGeom>
        </p:spPr>
      </p:pic>
      <p:pic>
        <p:nvPicPr>
          <p:cNvPr id="75" name="Graphic 74" descr="Database with solid fill">
            <a:extLst>
              <a:ext uri="{FF2B5EF4-FFF2-40B4-BE49-F238E27FC236}">
                <a16:creationId xmlns:a16="http://schemas.microsoft.com/office/drawing/2014/main" id="{DA1CC6B0-C3A6-606F-3FB1-81295F809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497" y="3291331"/>
            <a:ext cx="496299" cy="496299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438FB85-C0C6-EE9A-303A-0951EC391F58}"/>
              </a:ext>
            </a:extLst>
          </p:cNvPr>
          <p:cNvSpPr/>
          <p:nvPr/>
        </p:nvSpPr>
        <p:spPr>
          <a:xfrm>
            <a:off x="5548855" y="3761429"/>
            <a:ext cx="1530625" cy="4184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Raw Dataset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9" name="Title 1">
            <a:extLst>
              <a:ext uri="{FF2B5EF4-FFF2-40B4-BE49-F238E27FC236}">
                <a16:creationId xmlns:a16="http://schemas.microsoft.com/office/drawing/2014/main" id="{09000EB0-0923-E39E-3A63-16E5B1C17693}"/>
              </a:ext>
            </a:extLst>
          </p:cNvPr>
          <p:cNvSpPr txBox="1">
            <a:spLocks/>
          </p:cNvSpPr>
          <p:nvPr/>
        </p:nvSpPr>
        <p:spPr>
          <a:xfrm>
            <a:off x="5447469" y="4235092"/>
            <a:ext cx="1733395" cy="390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data quality issues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A368A07-104E-DF5B-363B-E169D1EDA576}"/>
              </a:ext>
            </a:extLst>
          </p:cNvPr>
          <p:cNvSpPr/>
          <p:nvPr/>
        </p:nvSpPr>
        <p:spPr>
          <a:xfrm>
            <a:off x="7902972" y="3487349"/>
            <a:ext cx="1530625" cy="4184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Preprocessing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680C5371-8F54-3E73-53B3-5EEE5892E704}"/>
              </a:ext>
            </a:extLst>
          </p:cNvPr>
          <p:cNvSpPr txBox="1">
            <a:spLocks/>
          </p:cNvSpPr>
          <p:nvPr/>
        </p:nvSpPr>
        <p:spPr>
          <a:xfrm>
            <a:off x="7705179" y="3970639"/>
            <a:ext cx="2327855" cy="10351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Remove invalid records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Handle missing values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Filter out cancellations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Remove duplicates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Validate data types and ranges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C38C12CC-ABAF-824B-C1D8-E8DBE262E8CB}"/>
              </a:ext>
            </a:extLst>
          </p:cNvPr>
          <p:cNvSpPr/>
          <p:nvPr/>
        </p:nvSpPr>
        <p:spPr>
          <a:xfrm>
            <a:off x="10328596" y="3735498"/>
            <a:ext cx="1530625" cy="41842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Clean Dataset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9" name="Title 1">
            <a:extLst>
              <a:ext uri="{FF2B5EF4-FFF2-40B4-BE49-F238E27FC236}">
                <a16:creationId xmlns:a16="http://schemas.microsoft.com/office/drawing/2014/main" id="{E519014F-B214-5D6F-4B0A-907B76757FF1}"/>
              </a:ext>
            </a:extLst>
          </p:cNvPr>
          <p:cNvSpPr txBox="1">
            <a:spLocks/>
          </p:cNvSpPr>
          <p:nvPr/>
        </p:nvSpPr>
        <p:spPr>
          <a:xfrm>
            <a:off x="10227210" y="4235092"/>
            <a:ext cx="1733395" cy="390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Ready for future engineering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1" name="Graphic 90" descr="Warning with solid fill">
            <a:extLst>
              <a:ext uri="{FF2B5EF4-FFF2-40B4-BE49-F238E27FC236}">
                <a16:creationId xmlns:a16="http://schemas.microsoft.com/office/drawing/2014/main" id="{462A20B6-32C7-533F-9E48-36552F2C9C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2122" y="3132618"/>
            <a:ext cx="575851" cy="575851"/>
          </a:xfrm>
          <a:prstGeom prst="rect">
            <a:avLst/>
          </a:prstGeom>
        </p:spPr>
      </p:pic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55A11CCC-9625-290D-9E53-96B5500657A9}"/>
              </a:ext>
            </a:extLst>
          </p:cNvPr>
          <p:cNvSpPr/>
          <p:nvPr/>
        </p:nvSpPr>
        <p:spPr>
          <a:xfrm>
            <a:off x="11251345" y="3132651"/>
            <a:ext cx="575851" cy="575850"/>
          </a:xfrm>
          <a:prstGeom prst="flowChartConnector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53" name="Graphic 52" descr="Checkmark with solid fill">
            <a:extLst>
              <a:ext uri="{FF2B5EF4-FFF2-40B4-BE49-F238E27FC236}">
                <a16:creationId xmlns:a16="http://schemas.microsoft.com/office/drawing/2014/main" id="{08E0C9F1-61DC-B01B-5F56-B80EEA42EF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38191" y="3220717"/>
            <a:ext cx="420624" cy="420624"/>
          </a:xfrm>
          <a:prstGeom prst="rect">
            <a:avLst/>
          </a:prstGeom>
        </p:spPr>
      </p:pic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9FD9790-0415-FAD3-8F64-3D1BC9EC1C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48645" y="5135304"/>
            <a:ext cx="6310576" cy="13069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8ADE32C3-36A6-6FC4-8D4E-4E373C4E70C2}"/>
              </a:ext>
            </a:extLst>
          </p:cNvPr>
          <p:cNvSpPr/>
          <p:nvPr/>
        </p:nvSpPr>
        <p:spPr>
          <a:xfrm>
            <a:off x="5548645" y="5129103"/>
            <a:ext cx="6310574" cy="358295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Key Takeaway </a:t>
            </a:r>
            <a:endParaRPr lang="en-PH" dirty="0">
              <a:solidFill>
                <a:schemeClr val="bg1"/>
              </a:solidFill>
            </a:endParaRPr>
          </a:p>
        </p:txBody>
      </p:sp>
      <p:pic>
        <p:nvPicPr>
          <p:cNvPr id="98" name="Graphic 97" descr="Arrow Right with solid fill">
            <a:extLst>
              <a:ext uri="{FF2B5EF4-FFF2-40B4-BE49-F238E27FC236}">
                <a16:creationId xmlns:a16="http://schemas.microsoft.com/office/drawing/2014/main" id="{6363F8BF-B14F-5A59-7C43-5177ADBCE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46282" y="2580815"/>
            <a:ext cx="914400" cy="914400"/>
          </a:xfrm>
          <a:prstGeom prst="rect">
            <a:avLst/>
          </a:prstGeom>
        </p:spPr>
      </p:pic>
      <p:pic>
        <p:nvPicPr>
          <p:cNvPr id="100" name="Graphic 99" descr="Arrow Right with solid fill">
            <a:extLst>
              <a:ext uri="{FF2B5EF4-FFF2-40B4-BE49-F238E27FC236}">
                <a16:creationId xmlns:a16="http://schemas.microsoft.com/office/drawing/2014/main" id="{6D4B0478-E488-E09F-12E7-2773F1901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04629" y="2568291"/>
            <a:ext cx="914400" cy="914400"/>
          </a:xfrm>
          <a:prstGeom prst="rect">
            <a:avLst/>
          </a:prstGeom>
        </p:spPr>
      </p:pic>
      <p:pic>
        <p:nvPicPr>
          <p:cNvPr id="57" name="Graphic 56" descr="Lightbulb with solid fill">
            <a:extLst>
              <a:ext uri="{FF2B5EF4-FFF2-40B4-BE49-F238E27FC236}">
                <a16:creationId xmlns:a16="http://schemas.microsoft.com/office/drawing/2014/main" id="{91D63B05-054F-B6A4-0D7E-E134EA007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24537" y="5640001"/>
            <a:ext cx="649605" cy="649605"/>
          </a:xfrm>
          <a:prstGeom prst="rect">
            <a:avLst/>
          </a:prstGeom>
        </p:spPr>
      </p:pic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2BCBFAF-1B9F-D962-A5EB-47A583BA0CBF}"/>
              </a:ext>
            </a:extLst>
          </p:cNvPr>
          <p:cNvCxnSpPr>
            <a:cxnSpLocks/>
          </p:cNvCxnSpPr>
          <p:nvPr/>
        </p:nvCxnSpPr>
        <p:spPr>
          <a:xfrm>
            <a:off x="6770847" y="5640001"/>
            <a:ext cx="0" cy="67845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Title 1">
            <a:extLst>
              <a:ext uri="{FF2B5EF4-FFF2-40B4-BE49-F238E27FC236}">
                <a16:creationId xmlns:a16="http://schemas.microsoft.com/office/drawing/2014/main" id="{479C817B-227C-EE08-1D37-7279755785F0}"/>
              </a:ext>
            </a:extLst>
          </p:cNvPr>
          <p:cNvSpPr txBox="1">
            <a:spLocks/>
          </p:cNvSpPr>
          <p:nvPr/>
        </p:nvSpPr>
        <p:spPr>
          <a:xfrm>
            <a:off x="7229488" y="5495862"/>
            <a:ext cx="4055857" cy="9463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raw data set contains several data quality issues that must be addressed to ensure reliable customer segmentation results.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05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492FD-1D91-2BFB-C86B-E0DB9DDF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183A77-D039-19C6-94B3-9C8F851A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FE8A4-74C2-6F8B-F6A8-80FE39155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1CD9F-3B23-269F-A265-DFA8676B3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041CCC-807C-BD98-4E0C-0FC8C9152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B0E852-D843-F5F2-0574-E0F594D96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AD6DC-7973-D8F6-3FC0-E954176F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05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Feature Engineering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1F73FFD-FC10-02DF-AB1E-DBC0A75CCC9D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07E24-4E9F-D579-0939-36EABC3389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812BA8-B777-DC23-19AA-4FC15138B387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9748949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RFM Analysis </a:t>
            </a:r>
            <a:endParaRPr lang="en-PH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1B5780-9E1B-849A-78B8-12346DDC43AD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595884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Transforming transaction data into customer-level features 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FA54B18-D54E-5E38-568E-403C99A5FE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74108" y="1575140"/>
            <a:ext cx="3962400" cy="22748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B37B1CA-FB6C-D9D9-7223-0C47A2B55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3669" y="1603633"/>
            <a:ext cx="3962398" cy="22780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H" b="1" dirty="0">
              <a:solidFill>
                <a:srgbClr val="800020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7C0AC55-DB6A-15BB-2589-DCACE244B04C}"/>
              </a:ext>
            </a:extLst>
          </p:cNvPr>
          <p:cNvSpPr>
            <a:spLocks/>
          </p:cNvSpPr>
          <p:nvPr/>
        </p:nvSpPr>
        <p:spPr>
          <a:xfrm>
            <a:off x="2103120" y="5480782"/>
            <a:ext cx="8092440" cy="103200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pic>
        <p:nvPicPr>
          <p:cNvPr id="57" name="Graphic 56" descr="Lightbulb with solid fill">
            <a:extLst>
              <a:ext uri="{FF2B5EF4-FFF2-40B4-BE49-F238E27FC236}">
                <a16:creationId xmlns:a16="http://schemas.microsoft.com/office/drawing/2014/main" id="{6B19CE75-534D-14E5-7408-4E33BD88D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8854" y="5671983"/>
            <a:ext cx="649605" cy="649605"/>
          </a:xfrm>
          <a:prstGeom prst="rect">
            <a:avLst/>
          </a:prstGeom>
        </p:spPr>
      </p:pic>
      <p:sp>
        <p:nvSpPr>
          <p:cNvPr id="105" name="Title 1">
            <a:extLst>
              <a:ext uri="{FF2B5EF4-FFF2-40B4-BE49-F238E27FC236}">
                <a16:creationId xmlns:a16="http://schemas.microsoft.com/office/drawing/2014/main" id="{48AB8EDB-C1F6-6834-06DF-DF5277EECDCB}"/>
              </a:ext>
            </a:extLst>
          </p:cNvPr>
          <p:cNvSpPr txBox="1">
            <a:spLocks/>
          </p:cNvSpPr>
          <p:nvPr/>
        </p:nvSpPr>
        <p:spPr>
          <a:xfrm>
            <a:off x="2764979" y="5778226"/>
            <a:ext cx="7247701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RFM provides an interpretable representation of customer engagement and purchasing value.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CFF202-A927-7857-F3A5-B91D2959E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230" y="1641762"/>
            <a:ext cx="3962398" cy="22780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47EF5D-02C2-B4EB-0AC1-D603EE1CE262}"/>
              </a:ext>
            </a:extLst>
          </p:cNvPr>
          <p:cNvSpPr>
            <a:spLocks/>
          </p:cNvSpPr>
          <p:nvPr/>
        </p:nvSpPr>
        <p:spPr>
          <a:xfrm>
            <a:off x="533030" y="4095979"/>
            <a:ext cx="3962398" cy="1139004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DCCA5CE8-90BC-18EB-2880-E27F0F50A0A4}"/>
              </a:ext>
            </a:extLst>
          </p:cNvPr>
          <p:cNvSpPr/>
          <p:nvPr/>
        </p:nvSpPr>
        <p:spPr>
          <a:xfrm>
            <a:off x="365760" y="1851356"/>
            <a:ext cx="944880" cy="940820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88896819-22E5-D21D-B7F5-AED45319BF6F}"/>
              </a:ext>
            </a:extLst>
          </p:cNvPr>
          <p:cNvSpPr/>
          <p:nvPr/>
        </p:nvSpPr>
        <p:spPr>
          <a:xfrm>
            <a:off x="4434840" y="1800135"/>
            <a:ext cx="944880" cy="940820"/>
          </a:xfrm>
          <a:prstGeom prst="flowChartConnec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8E53C5E7-36F2-4424-72EF-B8C89AD85D43}"/>
              </a:ext>
            </a:extLst>
          </p:cNvPr>
          <p:cNvSpPr/>
          <p:nvPr/>
        </p:nvSpPr>
        <p:spPr>
          <a:xfrm>
            <a:off x="8397238" y="1752449"/>
            <a:ext cx="944880" cy="940820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1" name="Graphic 30" descr="Daily calendar with solid fill">
            <a:extLst>
              <a:ext uri="{FF2B5EF4-FFF2-40B4-BE49-F238E27FC236}">
                <a16:creationId xmlns:a16="http://schemas.microsoft.com/office/drawing/2014/main" id="{B018F34C-7BF2-ACA0-CB76-5987C17FA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445" y="1917011"/>
            <a:ext cx="809510" cy="809510"/>
          </a:xfrm>
          <a:prstGeom prst="rect">
            <a:avLst/>
          </a:prstGeom>
        </p:spPr>
      </p:pic>
      <p:pic>
        <p:nvPicPr>
          <p:cNvPr id="28" name="Graphic 27" descr="Shopping basket with solid fill">
            <a:extLst>
              <a:ext uri="{FF2B5EF4-FFF2-40B4-BE49-F238E27FC236}">
                <a16:creationId xmlns:a16="http://schemas.microsoft.com/office/drawing/2014/main" id="{675155F7-FF5E-B198-EB8F-6CB126818F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0074" y="1762352"/>
            <a:ext cx="914400" cy="914400"/>
          </a:xfrm>
          <a:prstGeom prst="rect">
            <a:avLst/>
          </a:prstGeom>
        </p:spPr>
      </p:pic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FB578C3D-0425-78B2-B3CD-6F2505CA84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2472" y="1760018"/>
            <a:ext cx="914400" cy="914400"/>
          </a:xfrm>
          <a:prstGeom prst="rect">
            <a:avLst/>
          </a:prstGeom>
        </p:spPr>
      </p:pic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56AF301C-1BFB-63B6-77D0-ABDEAF483825}"/>
              </a:ext>
            </a:extLst>
          </p:cNvPr>
          <p:cNvSpPr/>
          <p:nvPr/>
        </p:nvSpPr>
        <p:spPr>
          <a:xfrm>
            <a:off x="8869672" y="2279278"/>
            <a:ext cx="318768" cy="298396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2" name="Graphic 21" descr="Pound with solid fill">
            <a:extLst>
              <a:ext uri="{FF2B5EF4-FFF2-40B4-BE49-F238E27FC236}">
                <a16:creationId xmlns:a16="http://schemas.microsoft.com/office/drawing/2014/main" id="{C0875F7C-14C4-DBBE-FD24-ACC16A488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7690" y="2308834"/>
            <a:ext cx="216310" cy="216310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6BA4DC92-0DEC-88D4-3861-54BBA64271A6}"/>
              </a:ext>
            </a:extLst>
          </p:cNvPr>
          <p:cNvSpPr txBox="1">
            <a:spLocks/>
          </p:cNvSpPr>
          <p:nvPr/>
        </p:nvSpPr>
        <p:spPr>
          <a:xfrm>
            <a:off x="1554126" y="1748219"/>
            <a:ext cx="1781282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RECENCY</a:t>
            </a:r>
            <a:endParaRPr lang="en-PH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6CD159E3-B10F-2E1E-A57F-CAC478F280C3}"/>
              </a:ext>
            </a:extLst>
          </p:cNvPr>
          <p:cNvSpPr txBox="1">
            <a:spLocks/>
          </p:cNvSpPr>
          <p:nvPr/>
        </p:nvSpPr>
        <p:spPr>
          <a:xfrm>
            <a:off x="5602848" y="1678191"/>
            <a:ext cx="2194920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6"/>
                </a:solidFill>
              </a:rPr>
              <a:t>FREQUENCY</a:t>
            </a:r>
            <a:endParaRPr lang="en-PH" sz="2800" b="1" dirty="0">
              <a:solidFill>
                <a:schemeClr val="accent6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FC1932EE-722D-5BCF-71FC-0311BE51FF06}"/>
              </a:ext>
            </a:extLst>
          </p:cNvPr>
          <p:cNvSpPr txBox="1">
            <a:spLocks/>
          </p:cNvSpPr>
          <p:nvPr/>
        </p:nvSpPr>
        <p:spPr>
          <a:xfrm>
            <a:off x="9565246" y="1678190"/>
            <a:ext cx="2194920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accent2"/>
                </a:solidFill>
              </a:rPr>
              <a:t>MONETARY</a:t>
            </a:r>
            <a:endParaRPr lang="en-PH" sz="2800" b="1" dirty="0">
              <a:solidFill>
                <a:schemeClr val="accent2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F56F4A3-57CE-CBD2-0323-7E680DED94CF}"/>
              </a:ext>
            </a:extLst>
          </p:cNvPr>
          <p:cNvCxnSpPr/>
          <p:nvPr/>
        </p:nvCxnSpPr>
        <p:spPr>
          <a:xfrm>
            <a:off x="1647825" y="2407484"/>
            <a:ext cx="910589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E77758-5135-62E8-DE5B-081EDD8870D8}"/>
              </a:ext>
            </a:extLst>
          </p:cNvPr>
          <p:cNvCxnSpPr/>
          <p:nvPr/>
        </p:nvCxnSpPr>
        <p:spPr>
          <a:xfrm>
            <a:off x="5694045" y="2316773"/>
            <a:ext cx="91058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45364C1-B920-E30A-B7B3-53648B01A9A1}"/>
              </a:ext>
            </a:extLst>
          </p:cNvPr>
          <p:cNvCxnSpPr/>
          <p:nvPr/>
        </p:nvCxnSpPr>
        <p:spPr>
          <a:xfrm>
            <a:off x="9656445" y="2316773"/>
            <a:ext cx="91058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itle 1">
            <a:extLst>
              <a:ext uri="{FF2B5EF4-FFF2-40B4-BE49-F238E27FC236}">
                <a16:creationId xmlns:a16="http://schemas.microsoft.com/office/drawing/2014/main" id="{647BC3A0-C53B-A887-5E78-05864E8F0D24}"/>
              </a:ext>
            </a:extLst>
          </p:cNvPr>
          <p:cNvSpPr txBox="1">
            <a:spLocks/>
          </p:cNvSpPr>
          <p:nvPr/>
        </p:nvSpPr>
        <p:spPr>
          <a:xfrm>
            <a:off x="1603170" y="2572378"/>
            <a:ext cx="2206172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Days since the customer’s most recent purchase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3BFC7AA-AEC8-2F2B-A618-31C69C62C68C}"/>
              </a:ext>
            </a:extLst>
          </p:cNvPr>
          <p:cNvSpPr/>
          <p:nvPr/>
        </p:nvSpPr>
        <p:spPr>
          <a:xfrm>
            <a:off x="563632" y="3209350"/>
            <a:ext cx="2936806" cy="5288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how recently a customer has purchased</a:t>
            </a:r>
            <a:endParaRPr lang="en-PH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C1C331CC-30E2-AB34-7C08-9723B55699B4}"/>
              </a:ext>
            </a:extLst>
          </p:cNvPr>
          <p:cNvSpPr txBox="1">
            <a:spLocks/>
          </p:cNvSpPr>
          <p:nvPr/>
        </p:nvSpPr>
        <p:spPr>
          <a:xfrm>
            <a:off x="5669227" y="2543796"/>
            <a:ext cx="1870813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accent6"/>
                </a:solidFill>
              </a:rPr>
              <a:t>Number of unique invoices/purchases</a:t>
            </a:r>
            <a:endParaRPr lang="en-PH" sz="1400" b="1" dirty="0">
              <a:solidFill>
                <a:schemeClr val="accent6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2E8EACE8-C414-704D-0870-FB4C427DC267}"/>
              </a:ext>
            </a:extLst>
          </p:cNvPr>
          <p:cNvSpPr/>
          <p:nvPr/>
        </p:nvSpPr>
        <p:spPr>
          <a:xfrm>
            <a:off x="4680936" y="3169925"/>
            <a:ext cx="2936806" cy="528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how often a customer purchases</a:t>
            </a:r>
            <a:endParaRPr lang="en-PH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7880169-6CAD-CA95-25B8-C1B10D0DFE65}"/>
              </a:ext>
            </a:extLst>
          </p:cNvPr>
          <p:cNvSpPr/>
          <p:nvPr/>
        </p:nvSpPr>
        <p:spPr>
          <a:xfrm>
            <a:off x="8732170" y="3164600"/>
            <a:ext cx="2936806" cy="5288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how much a customer spends</a:t>
            </a:r>
            <a:endParaRPr lang="en-PH" sz="11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5D57D065-7EEB-5DB3-5612-BD8CB7F2C33B}"/>
              </a:ext>
            </a:extLst>
          </p:cNvPr>
          <p:cNvSpPr txBox="1">
            <a:spLocks/>
          </p:cNvSpPr>
          <p:nvPr/>
        </p:nvSpPr>
        <p:spPr>
          <a:xfrm>
            <a:off x="9564808" y="2438274"/>
            <a:ext cx="2454429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accent2"/>
                </a:solidFill>
              </a:rPr>
              <a:t>Total amount spent by the customer</a:t>
            </a:r>
            <a:endParaRPr lang="en-PH" sz="1400" b="1" dirty="0">
              <a:solidFill>
                <a:schemeClr val="accent2"/>
              </a:solidFill>
            </a:endParaRPr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A2AA94BF-B092-1519-AC02-C5F09BD23E86}"/>
              </a:ext>
            </a:extLst>
          </p:cNvPr>
          <p:cNvSpPr/>
          <p:nvPr/>
        </p:nvSpPr>
        <p:spPr>
          <a:xfrm>
            <a:off x="734208" y="4195071"/>
            <a:ext cx="944880" cy="940820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80" name="Graphic 79" descr="Users with solid fill">
            <a:extLst>
              <a:ext uri="{FF2B5EF4-FFF2-40B4-BE49-F238E27FC236}">
                <a16:creationId xmlns:a16="http://schemas.microsoft.com/office/drawing/2014/main" id="{6967C87B-F8AF-1028-4DFD-F147F217B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448" y="4195071"/>
            <a:ext cx="914400" cy="914400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4B807298-E2A8-54BB-843B-007376EC3411}"/>
              </a:ext>
            </a:extLst>
          </p:cNvPr>
          <p:cNvSpPr txBox="1">
            <a:spLocks/>
          </p:cNvSpPr>
          <p:nvPr/>
        </p:nvSpPr>
        <p:spPr>
          <a:xfrm>
            <a:off x="1535862" y="4150352"/>
            <a:ext cx="2877016" cy="241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Customer-Level Dataset</a:t>
            </a:r>
            <a:endParaRPr lang="en-PH" sz="1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8B028286-C0A7-2299-BDE4-97DA9F6483C1}"/>
              </a:ext>
            </a:extLst>
          </p:cNvPr>
          <p:cNvSpPr txBox="1">
            <a:spLocks/>
          </p:cNvSpPr>
          <p:nvPr/>
        </p:nvSpPr>
        <p:spPr>
          <a:xfrm>
            <a:off x="1774340" y="4421823"/>
            <a:ext cx="1673430" cy="430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4,338</a:t>
            </a:r>
            <a:endParaRPr lang="en-PH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CF935F98-9E25-1AE8-6722-C5EF94F3461F}"/>
              </a:ext>
            </a:extLst>
          </p:cNvPr>
          <p:cNvSpPr txBox="1">
            <a:spLocks/>
          </p:cNvSpPr>
          <p:nvPr/>
        </p:nvSpPr>
        <p:spPr>
          <a:xfrm>
            <a:off x="1569659" y="4900969"/>
            <a:ext cx="2861776" cy="241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Customers x 3 RFM Features</a:t>
            </a:r>
            <a:endParaRPr lang="en-PH" sz="1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BC8295FF-A7C6-F112-9831-3698D2561C29}"/>
              </a:ext>
            </a:extLst>
          </p:cNvPr>
          <p:cNvSpPr/>
          <p:nvPr/>
        </p:nvSpPr>
        <p:spPr>
          <a:xfrm>
            <a:off x="4685343" y="4084401"/>
            <a:ext cx="1438334" cy="11448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RFM</a:t>
            </a:r>
          </a:p>
          <a:p>
            <a:pPr algn="ctr"/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Customer-level RFM Features</a:t>
            </a:r>
            <a:endParaRPr lang="en-PH" sz="1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047B95C-95B5-B04D-4856-D3E00ACBB4BC}"/>
              </a:ext>
            </a:extLst>
          </p:cNvPr>
          <p:cNvSpPr/>
          <p:nvPr/>
        </p:nvSpPr>
        <p:spPr>
          <a:xfrm>
            <a:off x="6533776" y="4064518"/>
            <a:ext cx="1438334" cy="11448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Log Transformation</a:t>
            </a:r>
          </a:p>
          <a:p>
            <a:pPr algn="ctr"/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Reduce skewness in the data</a:t>
            </a:r>
            <a:endParaRPr lang="en-PH" sz="1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491F2A4-48FE-D38B-C797-C33E4783ED93}"/>
              </a:ext>
            </a:extLst>
          </p:cNvPr>
          <p:cNvSpPr/>
          <p:nvPr/>
        </p:nvSpPr>
        <p:spPr>
          <a:xfrm>
            <a:off x="8382209" y="4064518"/>
            <a:ext cx="1438334" cy="11448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Standardization</a:t>
            </a:r>
          </a:p>
          <a:p>
            <a:pPr algn="ctr"/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Scale features for clustering</a:t>
            </a:r>
            <a:endParaRPr lang="en-PH" sz="1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643ACE0-5DFE-95D7-CA43-13D5A1995554}"/>
              </a:ext>
            </a:extLst>
          </p:cNvPr>
          <p:cNvSpPr/>
          <p:nvPr/>
        </p:nvSpPr>
        <p:spPr>
          <a:xfrm>
            <a:off x="10230642" y="4064518"/>
            <a:ext cx="1438334" cy="114486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K-Means</a:t>
            </a:r>
          </a:p>
          <a:p>
            <a:pPr algn="ctr"/>
            <a:r>
              <a:rPr lang="en-US" sz="1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segmentation</a:t>
            </a:r>
            <a:endParaRPr lang="en-PH" sz="1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10" name="Graphic 109" descr="Arrow Right with solid fill">
            <a:extLst>
              <a:ext uri="{FF2B5EF4-FFF2-40B4-BE49-F238E27FC236}">
                <a16:creationId xmlns:a16="http://schemas.microsoft.com/office/drawing/2014/main" id="{F9870756-0303-D594-CD60-8352CF30C2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6603" y="4457958"/>
            <a:ext cx="325175" cy="412232"/>
          </a:xfrm>
          <a:prstGeom prst="rect">
            <a:avLst/>
          </a:prstGeom>
        </p:spPr>
      </p:pic>
      <p:pic>
        <p:nvPicPr>
          <p:cNvPr id="112" name="Graphic 111" descr="Arrow Right with solid fill">
            <a:extLst>
              <a:ext uri="{FF2B5EF4-FFF2-40B4-BE49-F238E27FC236}">
                <a16:creationId xmlns:a16="http://schemas.microsoft.com/office/drawing/2014/main" id="{870C2EBE-5936-01CE-D4A8-37FE52ADC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18538" y="4451436"/>
            <a:ext cx="325175" cy="412232"/>
          </a:xfrm>
          <a:prstGeom prst="rect">
            <a:avLst/>
          </a:prstGeom>
        </p:spPr>
      </p:pic>
      <p:pic>
        <p:nvPicPr>
          <p:cNvPr id="114" name="Graphic 113" descr="Arrow Right with solid fill">
            <a:extLst>
              <a:ext uri="{FF2B5EF4-FFF2-40B4-BE49-F238E27FC236}">
                <a16:creationId xmlns:a16="http://schemas.microsoft.com/office/drawing/2014/main" id="{18521033-C9A4-7075-D48E-137963D20E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0385" y="4457958"/>
            <a:ext cx="325175" cy="412232"/>
          </a:xfrm>
          <a:prstGeom prst="rect">
            <a:avLst/>
          </a:prstGeom>
        </p:spPr>
      </p:pic>
      <p:pic>
        <p:nvPicPr>
          <p:cNvPr id="116" name="Graphic 115" descr="Connected with solid fill">
            <a:extLst>
              <a:ext uri="{FF2B5EF4-FFF2-40B4-BE49-F238E27FC236}">
                <a16:creationId xmlns:a16="http://schemas.microsoft.com/office/drawing/2014/main" id="{D900E814-2A94-A3D1-8052-E50F6869EC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72805" y="4077315"/>
            <a:ext cx="559636" cy="559636"/>
          </a:xfrm>
          <a:prstGeom prst="rect">
            <a:avLst/>
          </a:prstGeom>
        </p:spPr>
      </p:pic>
      <p:pic>
        <p:nvPicPr>
          <p:cNvPr id="118" name="Graphic 117" descr="Settings with solid fill">
            <a:extLst>
              <a:ext uri="{FF2B5EF4-FFF2-40B4-BE49-F238E27FC236}">
                <a16:creationId xmlns:a16="http://schemas.microsoft.com/office/drawing/2014/main" id="{88AA306E-6581-C8E7-F59F-EEC392E49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08280" y="4099777"/>
            <a:ext cx="579882" cy="564698"/>
          </a:xfrm>
          <a:prstGeom prst="rect">
            <a:avLst/>
          </a:prstGeom>
        </p:spPr>
      </p:pic>
      <p:pic>
        <p:nvPicPr>
          <p:cNvPr id="120" name="Graphic 119" descr="Signal with solid fill">
            <a:extLst>
              <a:ext uri="{FF2B5EF4-FFF2-40B4-BE49-F238E27FC236}">
                <a16:creationId xmlns:a16="http://schemas.microsoft.com/office/drawing/2014/main" id="{2DBDB748-3799-42EA-0C95-6DD031F0A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48370" y="4106039"/>
            <a:ext cx="607543" cy="544845"/>
          </a:xfrm>
          <a:prstGeom prst="rect">
            <a:avLst/>
          </a:prstGeom>
        </p:spPr>
      </p:pic>
      <p:pic>
        <p:nvPicPr>
          <p:cNvPr id="122" name="Graphic 121" descr="Document with solid fill">
            <a:extLst>
              <a:ext uri="{FF2B5EF4-FFF2-40B4-BE49-F238E27FC236}">
                <a16:creationId xmlns:a16="http://schemas.microsoft.com/office/drawing/2014/main" id="{F9604064-BCAE-D4A5-676B-9642A7C5B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00738" y="4087654"/>
            <a:ext cx="607543" cy="6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6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5250D-DF2B-CE2D-5BD2-6526553E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3964F71-66DC-C2DD-4E9B-A666CC1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4A580-1AD2-7F41-0B95-B472D0F43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7CE2BA-7E85-0F02-47D8-385D01F4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1E958-F87E-A0DF-6CB0-62E3EF7EA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AABE4-05EB-00CD-C750-8C7A31198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EA3CE-BC33-7A6F-2DC3-E9CF69E1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06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Model Selection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31C183-F0D2-36B1-5A3B-90F92C5B1C53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90F65C-00CB-8C88-2B98-A637383658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D16C68-4002-279F-8989-96A979E51618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11595496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 Selection – Choosing the </a:t>
            </a:r>
            <a:r>
              <a:rPr lang="en-US" sz="3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Number of Clusters</a:t>
            </a:r>
            <a:endParaRPr lang="en-PH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808E4E7-EB49-6DDD-1AEC-3965A3592086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595884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Evaluating clustering performance using the silhouette score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7F6956B-B7C1-BCC3-C124-22CF77A2D1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15299" y="3733856"/>
            <a:ext cx="3962400" cy="227482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PH" dirty="0">
              <a:solidFill>
                <a:srgbClr val="800020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1CB860C-EA1F-567B-88E8-F77BB377AA60}"/>
              </a:ext>
            </a:extLst>
          </p:cNvPr>
          <p:cNvSpPr>
            <a:spLocks/>
          </p:cNvSpPr>
          <p:nvPr/>
        </p:nvSpPr>
        <p:spPr>
          <a:xfrm>
            <a:off x="299294" y="5741410"/>
            <a:ext cx="7554815" cy="7739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pic>
        <p:nvPicPr>
          <p:cNvPr id="57" name="Graphic 56" descr="Lightbulb with solid fill">
            <a:extLst>
              <a:ext uri="{FF2B5EF4-FFF2-40B4-BE49-F238E27FC236}">
                <a16:creationId xmlns:a16="http://schemas.microsoft.com/office/drawing/2014/main" id="{57E15E6D-2B4B-A4B9-F5AB-1551A5158A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7766" y="5803599"/>
            <a:ext cx="606448" cy="649605"/>
          </a:xfrm>
          <a:prstGeom prst="rect">
            <a:avLst/>
          </a:prstGeom>
        </p:spPr>
      </p:pic>
      <p:sp>
        <p:nvSpPr>
          <p:cNvPr id="105" name="Title 1">
            <a:extLst>
              <a:ext uri="{FF2B5EF4-FFF2-40B4-BE49-F238E27FC236}">
                <a16:creationId xmlns:a16="http://schemas.microsoft.com/office/drawing/2014/main" id="{9F2D9540-0FA1-CCBE-4757-989F921E6DC6}"/>
              </a:ext>
            </a:extLst>
          </p:cNvPr>
          <p:cNvSpPr txBox="1">
            <a:spLocks/>
          </p:cNvSpPr>
          <p:nvPr/>
        </p:nvSpPr>
        <p:spPr>
          <a:xfrm>
            <a:off x="923891" y="5909842"/>
            <a:ext cx="1270670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Takeaway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6E945B-E278-4FA5-6566-E7CD1E62F269}"/>
              </a:ext>
            </a:extLst>
          </p:cNvPr>
          <p:cNvSpPr>
            <a:spLocks/>
          </p:cNvSpPr>
          <p:nvPr/>
        </p:nvSpPr>
        <p:spPr>
          <a:xfrm>
            <a:off x="8064932" y="1386028"/>
            <a:ext cx="3962398" cy="22780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3AF3DEB-55B4-9E14-3259-E0D8A76072E8}"/>
              </a:ext>
            </a:extLst>
          </p:cNvPr>
          <p:cNvSpPr/>
          <p:nvPr/>
        </p:nvSpPr>
        <p:spPr>
          <a:xfrm>
            <a:off x="8357462" y="1595622"/>
            <a:ext cx="727729" cy="704684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5FDD2A5-141D-8348-3EF2-95BCEAC2B376}"/>
              </a:ext>
            </a:extLst>
          </p:cNvPr>
          <p:cNvSpPr/>
          <p:nvPr/>
        </p:nvSpPr>
        <p:spPr>
          <a:xfrm>
            <a:off x="8338429" y="3911165"/>
            <a:ext cx="727729" cy="704684"/>
          </a:xfrm>
          <a:prstGeom prst="flowChartConnec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B6169C5A-0863-3172-99FF-317A69356DAE}"/>
              </a:ext>
            </a:extLst>
          </p:cNvPr>
          <p:cNvSpPr txBox="1">
            <a:spLocks/>
          </p:cNvSpPr>
          <p:nvPr/>
        </p:nvSpPr>
        <p:spPr>
          <a:xfrm>
            <a:off x="9193234" y="1475063"/>
            <a:ext cx="2481502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Selected K = </a:t>
            </a:r>
            <a:r>
              <a:rPr lang="en-US" sz="3200" b="1" dirty="0">
                <a:solidFill>
                  <a:srgbClr val="4E95D9"/>
                </a:solidFill>
              </a:rPr>
              <a:t>2</a:t>
            </a:r>
            <a:endParaRPr lang="en-PH" sz="2400" b="1" dirty="0">
              <a:solidFill>
                <a:srgbClr val="4E95D9"/>
              </a:solidFill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ADA6E9FE-80DA-28C7-54E4-7783CF1D30E9}"/>
              </a:ext>
            </a:extLst>
          </p:cNvPr>
          <p:cNvSpPr txBox="1">
            <a:spLocks/>
          </p:cNvSpPr>
          <p:nvPr/>
        </p:nvSpPr>
        <p:spPr>
          <a:xfrm>
            <a:off x="9077131" y="3883052"/>
            <a:ext cx="3158003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accent2"/>
                </a:solidFill>
              </a:rPr>
              <a:t>Technical Observation</a:t>
            </a:r>
            <a:endParaRPr lang="en-PH" sz="2800" b="1" dirty="0">
              <a:solidFill>
                <a:schemeClr val="accent2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D4F849F-24D3-BCED-6EA3-C59D597E14EB}"/>
              </a:ext>
            </a:extLst>
          </p:cNvPr>
          <p:cNvCxnSpPr/>
          <p:nvPr/>
        </p:nvCxnSpPr>
        <p:spPr>
          <a:xfrm>
            <a:off x="9305539" y="2037450"/>
            <a:ext cx="910589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687A2EE-92D1-6F42-F14F-FF1098A7A066}"/>
              </a:ext>
            </a:extLst>
          </p:cNvPr>
          <p:cNvCxnSpPr/>
          <p:nvPr/>
        </p:nvCxnSpPr>
        <p:spPr>
          <a:xfrm>
            <a:off x="9211987" y="4414529"/>
            <a:ext cx="91058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itle 1">
            <a:extLst>
              <a:ext uri="{FF2B5EF4-FFF2-40B4-BE49-F238E27FC236}">
                <a16:creationId xmlns:a16="http://schemas.microsoft.com/office/drawing/2014/main" id="{6E605FF6-DCC4-A1C9-3AFE-5E2AD8A3056D}"/>
              </a:ext>
            </a:extLst>
          </p:cNvPr>
          <p:cNvSpPr txBox="1">
            <a:spLocks/>
          </p:cNvSpPr>
          <p:nvPr/>
        </p:nvSpPr>
        <p:spPr>
          <a:xfrm>
            <a:off x="8254144" y="2295779"/>
            <a:ext cx="913353" cy="3579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Reason:</a:t>
            </a:r>
            <a:endParaRPr lang="en-PH" sz="1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EACD5E72-13AF-9D42-8351-2430E28C380F}"/>
              </a:ext>
            </a:extLst>
          </p:cNvPr>
          <p:cNvSpPr txBox="1">
            <a:spLocks/>
          </p:cNvSpPr>
          <p:nvPr/>
        </p:nvSpPr>
        <p:spPr>
          <a:xfrm>
            <a:off x="8226768" y="4741730"/>
            <a:ext cx="2207217" cy="1038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solidFill>
                  <a:schemeClr val="accent2"/>
                </a:solidFill>
              </a:rPr>
              <a:t>Before log transformation: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4,312 vs 26 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customers 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Highly imbalanced</a:t>
            </a:r>
            <a:endParaRPr lang="en-PH" sz="1400" dirty="0">
              <a:solidFill>
                <a:schemeClr val="accent2"/>
              </a:solidFill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487616F-CFC4-B811-71F9-F3B5EFF4AAF6}"/>
              </a:ext>
            </a:extLst>
          </p:cNvPr>
          <p:cNvSpPr/>
          <p:nvPr/>
        </p:nvSpPr>
        <p:spPr>
          <a:xfrm>
            <a:off x="1406126" y="2424367"/>
            <a:ext cx="177405" cy="172016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CD14B8C-C315-5285-5F91-C6C31CEEE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087336"/>
              </p:ext>
            </p:extLst>
          </p:nvPr>
        </p:nvGraphicFramePr>
        <p:xfrm>
          <a:off x="296291" y="1648800"/>
          <a:ext cx="7554815" cy="37500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787F3349-7917-83E9-5DF4-3D3D94E0BF3B}"/>
              </a:ext>
            </a:extLst>
          </p:cNvPr>
          <p:cNvSpPr txBox="1">
            <a:spLocks/>
          </p:cNvSpPr>
          <p:nvPr/>
        </p:nvSpPr>
        <p:spPr>
          <a:xfrm>
            <a:off x="8511050" y="2438568"/>
            <a:ext cx="3410087" cy="945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Highest silhouette score among tested K values.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Produces interpretable customer groups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More balanced clusters after preprocessing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Suitable for business segmentation </a:t>
            </a:r>
            <a:endParaRPr lang="en-PH" sz="1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8938243B-A4FF-7E84-A961-01FA85B0B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2762" y="3994736"/>
            <a:ext cx="517127" cy="517127"/>
          </a:xfrm>
          <a:prstGeom prst="rect">
            <a:avLst/>
          </a:prstGeom>
        </p:spPr>
      </p:pic>
      <p:pic>
        <p:nvPicPr>
          <p:cNvPr id="33" name="Graphic 32" descr="Trophy with solid fill">
            <a:extLst>
              <a:ext uri="{FF2B5EF4-FFF2-40B4-BE49-F238E27FC236}">
                <a16:creationId xmlns:a16="http://schemas.microsoft.com/office/drawing/2014/main" id="{F2189659-F259-576C-4059-2104FA8E5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5450" y="1688394"/>
            <a:ext cx="571752" cy="571752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5A6B80-BE1B-82AB-C20E-212A66A12296}"/>
              </a:ext>
            </a:extLst>
          </p:cNvPr>
          <p:cNvCxnSpPr>
            <a:cxnSpLocks/>
          </p:cNvCxnSpPr>
          <p:nvPr/>
        </p:nvCxnSpPr>
        <p:spPr>
          <a:xfrm>
            <a:off x="10122576" y="4736197"/>
            <a:ext cx="0" cy="103857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3C02142C-D9C4-F212-B06B-9466A399E582}"/>
              </a:ext>
            </a:extLst>
          </p:cNvPr>
          <p:cNvSpPr txBox="1">
            <a:spLocks/>
          </p:cNvSpPr>
          <p:nvPr/>
        </p:nvSpPr>
        <p:spPr>
          <a:xfrm>
            <a:off x="10216093" y="4733082"/>
            <a:ext cx="1955123" cy="1038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dirty="0">
                <a:solidFill>
                  <a:schemeClr val="accent2"/>
                </a:solidFill>
              </a:rPr>
              <a:t>After log transformation: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Reduced the influence of extreme-value customers and produced more meaningful segments</a:t>
            </a:r>
            <a:endParaRPr lang="en-PH" sz="1400" dirty="0">
              <a:solidFill>
                <a:schemeClr val="accent2"/>
              </a:solidFill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1AB8C758-B53F-6F8E-77B4-FBAABCAFA8ED}"/>
              </a:ext>
            </a:extLst>
          </p:cNvPr>
          <p:cNvSpPr txBox="1">
            <a:spLocks/>
          </p:cNvSpPr>
          <p:nvPr/>
        </p:nvSpPr>
        <p:spPr>
          <a:xfrm>
            <a:off x="2399112" y="5909842"/>
            <a:ext cx="5395355" cy="4782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Although larger values of K were evaluated, 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 = 2 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achieved the 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strongest clustering quality </a:t>
            </a:r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according to the silhouette score while remaining interpretable for business decision-making. </a:t>
            </a:r>
            <a:endParaRPr lang="en-PH" sz="1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7ECB41-9E89-4E1F-EFA7-88345303CBC2}"/>
              </a:ext>
            </a:extLst>
          </p:cNvPr>
          <p:cNvCxnSpPr>
            <a:cxnSpLocks/>
          </p:cNvCxnSpPr>
          <p:nvPr/>
        </p:nvCxnSpPr>
        <p:spPr>
          <a:xfrm>
            <a:off x="2296836" y="5848607"/>
            <a:ext cx="0" cy="52100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17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48B84-E6A5-A06A-3825-996DA6309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238325-AB99-F32F-8047-B3B3F0DFD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92FB3-9B84-F889-918D-6EE3F45F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9EEDFF-1BDE-1100-1558-EDC87418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C4189-CCF0-F47F-B4F9-77921D91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0C0B60-646B-4329-8910-B52075E0E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DBC36-CED6-3151-BE78-CD3574BE9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07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Final Model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FFF83C-D912-2BFC-23E4-6981A45ABD44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B6BA3-AE9E-9903-D165-9435A1DABB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CA6077-499E-1625-F1F0-B442AC0C0D65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4716781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Final Model Evaluation </a:t>
            </a:r>
            <a:endParaRPr lang="en-PH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C690CB-FE89-5520-9E6D-17C9788A1369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669969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Performance metrics and stability analysis of the final clustering model 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9386CB-17FC-4395-7123-82E9F6060245}"/>
              </a:ext>
            </a:extLst>
          </p:cNvPr>
          <p:cNvSpPr>
            <a:spLocks/>
          </p:cNvSpPr>
          <p:nvPr/>
        </p:nvSpPr>
        <p:spPr>
          <a:xfrm>
            <a:off x="294684" y="1646035"/>
            <a:ext cx="11732646" cy="14454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0E8E46AF-5746-1FA5-F58B-86800E89D710}"/>
              </a:ext>
            </a:extLst>
          </p:cNvPr>
          <p:cNvSpPr/>
          <p:nvPr/>
        </p:nvSpPr>
        <p:spPr>
          <a:xfrm>
            <a:off x="4119935" y="1838865"/>
            <a:ext cx="914400" cy="91440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8F631E02-614F-777C-1E47-DE0CF6760BED}"/>
              </a:ext>
            </a:extLst>
          </p:cNvPr>
          <p:cNvSpPr txBox="1">
            <a:spLocks/>
          </p:cNvSpPr>
          <p:nvPr/>
        </p:nvSpPr>
        <p:spPr>
          <a:xfrm>
            <a:off x="5548148" y="1962933"/>
            <a:ext cx="2481502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K-Means – 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 = 2</a:t>
            </a:r>
            <a:endParaRPr lang="en-PH" sz="2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0073996-DD0F-528D-B857-5ED1FEE6AD0F}"/>
              </a:ext>
            </a:extLst>
          </p:cNvPr>
          <p:cNvCxnSpPr>
            <a:cxnSpLocks/>
          </p:cNvCxnSpPr>
          <p:nvPr/>
        </p:nvCxnSpPr>
        <p:spPr>
          <a:xfrm>
            <a:off x="5291241" y="1913987"/>
            <a:ext cx="0" cy="82794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B6759921-64EE-B70E-2E90-7A11FDAC470E}"/>
              </a:ext>
            </a:extLst>
          </p:cNvPr>
          <p:cNvSpPr txBox="1">
            <a:spLocks/>
          </p:cNvSpPr>
          <p:nvPr/>
        </p:nvSpPr>
        <p:spPr>
          <a:xfrm>
            <a:off x="5638964" y="2415836"/>
            <a:ext cx="2699465" cy="326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PH" sz="1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Final customer segmentation</a:t>
            </a:r>
          </a:p>
        </p:txBody>
      </p:sp>
      <p:pic>
        <p:nvPicPr>
          <p:cNvPr id="5" name="Graphic 4" descr="Users with solid fill">
            <a:extLst>
              <a:ext uri="{FF2B5EF4-FFF2-40B4-BE49-F238E27FC236}">
                <a16:creationId xmlns:a16="http://schemas.microsoft.com/office/drawing/2014/main" id="{CC9ABF7D-928B-CE8E-16B8-9D341CB7F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9935" y="1838865"/>
            <a:ext cx="914400" cy="914400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468361-5EED-4767-5125-94D8841FA762}"/>
              </a:ext>
            </a:extLst>
          </p:cNvPr>
          <p:cNvSpPr>
            <a:spLocks/>
          </p:cNvSpPr>
          <p:nvPr/>
        </p:nvSpPr>
        <p:spPr>
          <a:xfrm>
            <a:off x="294684" y="3236433"/>
            <a:ext cx="2700661" cy="1445425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B05D3B-23C8-BF2D-6ED7-BCA8D824E074}"/>
              </a:ext>
            </a:extLst>
          </p:cNvPr>
          <p:cNvSpPr>
            <a:spLocks/>
          </p:cNvSpPr>
          <p:nvPr/>
        </p:nvSpPr>
        <p:spPr>
          <a:xfrm>
            <a:off x="3310178" y="3236432"/>
            <a:ext cx="2700661" cy="1445425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DB271A-F650-DFF5-D5B3-7E4C464C6EAE}"/>
              </a:ext>
            </a:extLst>
          </p:cNvPr>
          <p:cNvSpPr>
            <a:spLocks/>
          </p:cNvSpPr>
          <p:nvPr/>
        </p:nvSpPr>
        <p:spPr>
          <a:xfrm>
            <a:off x="6305523" y="3236431"/>
            <a:ext cx="2700661" cy="1445425"/>
          </a:xfrm>
          <a:prstGeom prst="roundRect">
            <a:avLst/>
          </a:prstGeom>
          <a:solidFill>
            <a:srgbClr val="FAF4F0"/>
          </a:solidFill>
          <a:ln>
            <a:solidFill>
              <a:srgbClr val="FAF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45A4A0-2DDD-4F28-96C2-E9F9B078E551}"/>
              </a:ext>
            </a:extLst>
          </p:cNvPr>
          <p:cNvSpPr>
            <a:spLocks/>
          </p:cNvSpPr>
          <p:nvPr/>
        </p:nvSpPr>
        <p:spPr>
          <a:xfrm>
            <a:off x="9326669" y="3236433"/>
            <a:ext cx="2700661" cy="1445425"/>
          </a:xfrm>
          <a:prstGeom prst="roundRect">
            <a:avLst/>
          </a:prstGeom>
          <a:solidFill>
            <a:srgbClr val="F2F1FB"/>
          </a:solidFill>
          <a:ln>
            <a:solidFill>
              <a:srgbClr val="F2F1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20480BBD-495F-A4A0-40D7-BA7D66E2DD80}"/>
              </a:ext>
            </a:extLst>
          </p:cNvPr>
          <p:cNvSpPr/>
          <p:nvPr/>
        </p:nvSpPr>
        <p:spPr>
          <a:xfrm>
            <a:off x="511527" y="3370805"/>
            <a:ext cx="428451" cy="412714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A5C98B99-963D-9D79-6CF7-259AE30F668E}"/>
              </a:ext>
            </a:extLst>
          </p:cNvPr>
          <p:cNvSpPr/>
          <p:nvPr/>
        </p:nvSpPr>
        <p:spPr>
          <a:xfrm>
            <a:off x="3540344" y="3370805"/>
            <a:ext cx="428451" cy="412714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BD0AAEDF-FAB0-7A4A-7AEF-ADBDBDE63998}"/>
              </a:ext>
            </a:extLst>
          </p:cNvPr>
          <p:cNvSpPr/>
          <p:nvPr/>
        </p:nvSpPr>
        <p:spPr>
          <a:xfrm>
            <a:off x="6461739" y="3370805"/>
            <a:ext cx="428451" cy="412714"/>
          </a:xfrm>
          <a:prstGeom prst="flowChartConnector">
            <a:avLst/>
          </a:prstGeom>
          <a:solidFill>
            <a:srgbClr val="FBE0CB"/>
          </a:solidFill>
          <a:ln>
            <a:solidFill>
              <a:srgbClr val="FBE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2142D7D5-9A1D-5C50-56E2-669F8CA3ED32}"/>
              </a:ext>
            </a:extLst>
          </p:cNvPr>
          <p:cNvSpPr/>
          <p:nvPr/>
        </p:nvSpPr>
        <p:spPr>
          <a:xfrm>
            <a:off x="9488207" y="3371552"/>
            <a:ext cx="428451" cy="412714"/>
          </a:xfrm>
          <a:prstGeom prst="flowChartConnector">
            <a:avLst/>
          </a:prstGeom>
          <a:solidFill>
            <a:srgbClr val="E0D7F9"/>
          </a:solidFill>
          <a:ln>
            <a:solidFill>
              <a:srgbClr val="E0D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5914F58F-1A3C-58E2-86DA-5DC9634FA58A}"/>
              </a:ext>
            </a:extLst>
          </p:cNvPr>
          <p:cNvSpPr txBox="1">
            <a:spLocks/>
          </p:cNvSpPr>
          <p:nvPr/>
        </p:nvSpPr>
        <p:spPr>
          <a:xfrm>
            <a:off x="1019561" y="3370805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Silhouette Score</a:t>
            </a:r>
            <a:endParaRPr lang="en-PH" sz="1600" b="1" dirty="0">
              <a:solidFill>
                <a:srgbClr val="061946"/>
              </a:solidFill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7086AD06-624A-DD40-19C7-690E5C5C7B8E}"/>
              </a:ext>
            </a:extLst>
          </p:cNvPr>
          <p:cNvSpPr txBox="1">
            <a:spLocks/>
          </p:cNvSpPr>
          <p:nvPr/>
        </p:nvSpPr>
        <p:spPr>
          <a:xfrm>
            <a:off x="1195477" y="3811655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4DD4"/>
                </a:solidFill>
              </a:rPr>
              <a:t>0.4328</a:t>
            </a:r>
            <a:endParaRPr lang="en-PH" sz="3200" b="1" dirty="0">
              <a:solidFill>
                <a:srgbClr val="004DD4"/>
              </a:solidFill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7C49EB1B-9315-40A8-D890-6A609FE9D9FF}"/>
              </a:ext>
            </a:extLst>
          </p:cNvPr>
          <p:cNvSpPr txBox="1">
            <a:spLocks/>
          </p:cNvSpPr>
          <p:nvPr/>
        </p:nvSpPr>
        <p:spPr>
          <a:xfrm>
            <a:off x="459351" y="4200518"/>
            <a:ext cx="2368156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cluster separation and interpreted as the higher the better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A62F3DCC-C3AE-2797-DEEB-6BBDCF963E85}"/>
              </a:ext>
            </a:extLst>
          </p:cNvPr>
          <p:cNvSpPr txBox="1">
            <a:spLocks/>
          </p:cNvSpPr>
          <p:nvPr/>
        </p:nvSpPr>
        <p:spPr>
          <a:xfrm>
            <a:off x="3953333" y="3349015"/>
            <a:ext cx="2023696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Davies-Bouldin Index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F9B699D8-4F69-C591-AD18-F71C6F67F258}"/>
              </a:ext>
            </a:extLst>
          </p:cNvPr>
          <p:cNvSpPr txBox="1">
            <a:spLocks/>
          </p:cNvSpPr>
          <p:nvPr/>
        </p:nvSpPr>
        <p:spPr>
          <a:xfrm>
            <a:off x="4207696" y="3783519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9363"/>
                </a:solidFill>
              </a:rPr>
              <a:t>0.8925</a:t>
            </a:r>
            <a:endParaRPr lang="en-PH" sz="3200" b="1" dirty="0">
              <a:solidFill>
                <a:srgbClr val="009363"/>
              </a:solidFill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63960D12-4415-5514-B8CA-D41739B3DFC0}"/>
              </a:ext>
            </a:extLst>
          </p:cNvPr>
          <p:cNvSpPr txBox="1">
            <a:spLocks/>
          </p:cNvSpPr>
          <p:nvPr/>
        </p:nvSpPr>
        <p:spPr>
          <a:xfrm>
            <a:off x="3471570" y="4172382"/>
            <a:ext cx="2513468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Measures cluster compactness and interpreted as the lower the better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CA51E6AD-113E-317C-3A9A-38F8C7CE8ABB}"/>
              </a:ext>
            </a:extLst>
          </p:cNvPr>
          <p:cNvSpPr txBox="1">
            <a:spLocks/>
          </p:cNvSpPr>
          <p:nvPr/>
        </p:nvSpPr>
        <p:spPr>
          <a:xfrm>
            <a:off x="6871118" y="3349015"/>
            <a:ext cx="2259379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PCA Variance Retained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D9BEDA13-D514-375D-40F1-E77EC7CACA4B}"/>
              </a:ext>
            </a:extLst>
          </p:cNvPr>
          <p:cNvSpPr txBox="1">
            <a:spLocks/>
          </p:cNvSpPr>
          <p:nvPr/>
        </p:nvSpPr>
        <p:spPr>
          <a:xfrm>
            <a:off x="7156983" y="3783519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96800"/>
                </a:solidFill>
              </a:rPr>
              <a:t>93.65%</a:t>
            </a:r>
            <a:endParaRPr lang="en-PH" sz="3200" b="1" dirty="0">
              <a:solidFill>
                <a:srgbClr val="F96800"/>
              </a:solidFill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59D48100-2211-CED3-122E-DCDB4B4A1DD8}"/>
              </a:ext>
            </a:extLst>
          </p:cNvPr>
          <p:cNvSpPr txBox="1">
            <a:spLocks/>
          </p:cNvSpPr>
          <p:nvPr/>
        </p:nvSpPr>
        <p:spPr>
          <a:xfrm>
            <a:off x="6420857" y="4172382"/>
            <a:ext cx="2513468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Amount of variance captured in 2 components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04E842A6-6C79-6935-6B1E-98B0F7DF3F0E}"/>
              </a:ext>
            </a:extLst>
          </p:cNvPr>
          <p:cNvSpPr txBox="1">
            <a:spLocks/>
          </p:cNvSpPr>
          <p:nvPr/>
        </p:nvSpPr>
        <p:spPr>
          <a:xfrm>
            <a:off x="9901243" y="3349015"/>
            <a:ext cx="2259379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Stability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75" name="Title 1">
            <a:extLst>
              <a:ext uri="{FF2B5EF4-FFF2-40B4-BE49-F238E27FC236}">
                <a16:creationId xmlns:a16="http://schemas.microsoft.com/office/drawing/2014/main" id="{BE8EF991-31E8-9886-10CB-408EFAB91D55}"/>
              </a:ext>
            </a:extLst>
          </p:cNvPr>
          <p:cNvSpPr txBox="1">
            <a:spLocks/>
          </p:cNvSpPr>
          <p:nvPr/>
        </p:nvSpPr>
        <p:spPr>
          <a:xfrm>
            <a:off x="9442003" y="3783519"/>
            <a:ext cx="3132011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410ABF"/>
                </a:solidFill>
              </a:rPr>
              <a:t>~0.4328-0.4329</a:t>
            </a:r>
            <a:endParaRPr lang="en-PH" sz="2800" b="1" dirty="0">
              <a:solidFill>
                <a:srgbClr val="410ABF"/>
              </a:solidFill>
            </a:endParaRP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0EDE685E-639F-004D-760B-957BAC1324FA}"/>
              </a:ext>
            </a:extLst>
          </p:cNvPr>
          <p:cNvSpPr txBox="1">
            <a:spLocks/>
          </p:cNvSpPr>
          <p:nvPr/>
        </p:nvSpPr>
        <p:spPr>
          <a:xfrm>
            <a:off x="9450982" y="4172382"/>
            <a:ext cx="2513468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Consistent results across multiple random seeds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0" name="Graphic 79" descr="Shield Tick with solid fill">
            <a:extLst>
              <a:ext uri="{FF2B5EF4-FFF2-40B4-BE49-F238E27FC236}">
                <a16:creationId xmlns:a16="http://schemas.microsoft.com/office/drawing/2014/main" id="{328C7BA3-A643-A754-F725-466C37C68F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1510" y="3436564"/>
            <a:ext cx="281196" cy="281196"/>
          </a:xfrm>
          <a:prstGeom prst="rect">
            <a:avLst/>
          </a:prstGeom>
        </p:spPr>
      </p:pic>
      <p:pic>
        <p:nvPicPr>
          <p:cNvPr id="82" name="Graphic 81" descr="Database with solid fill">
            <a:extLst>
              <a:ext uri="{FF2B5EF4-FFF2-40B4-BE49-F238E27FC236}">
                <a16:creationId xmlns:a16="http://schemas.microsoft.com/office/drawing/2014/main" id="{892E123B-C09B-19EF-5974-8ED365B26D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0553" y="3436564"/>
            <a:ext cx="281196" cy="281196"/>
          </a:xfrm>
          <a:prstGeom prst="rect">
            <a:avLst/>
          </a:prstGeom>
        </p:spPr>
      </p:pic>
      <p:pic>
        <p:nvPicPr>
          <p:cNvPr id="84" name="Graphic 83" descr="Network with solid fill">
            <a:extLst>
              <a:ext uri="{FF2B5EF4-FFF2-40B4-BE49-F238E27FC236}">
                <a16:creationId xmlns:a16="http://schemas.microsoft.com/office/drawing/2014/main" id="{B5FE1728-5A9A-7544-EB90-FEEDA50B2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3971" y="3412713"/>
            <a:ext cx="281196" cy="281196"/>
          </a:xfrm>
          <a:prstGeom prst="rect">
            <a:avLst/>
          </a:prstGeom>
        </p:spPr>
      </p:pic>
      <p:pic>
        <p:nvPicPr>
          <p:cNvPr id="86" name="Graphic 85" descr="Signal with solid fill">
            <a:extLst>
              <a:ext uri="{FF2B5EF4-FFF2-40B4-BE49-F238E27FC236}">
                <a16:creationId xmlns:a16="http://schemas.microsoft.com/office/drawing/2014/main" id="{2C734B08-91C2-5DD7-9118-E3E8513D62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341" y="3412713"/>
            <a:ext cx="281196" cy="281196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104E281-EB13-B3D1-F15E-6BDCBC8EAB83}"/>
              </a:ext>
            </a:extLst>
          </p:cNvPr>
          <p:cNvSpPr>
            <a:spLocks/>
          </p:cNvSpPr>
          <p:nvPr/>
        </p:nvSpPr>
        <p:spPr>
          <a:xfrm>
            <a:off x="294684" y="4853961"/>
            <a:ext cx="5716155" cy="1603989"/>
          </a:xfrm>
          <a:prstGeom prst="roundRect">
            <a:avLst/>
          </a:prstGeom>
          <a:solidFill>
            <a:schemeClr val="bg1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1B9EAEF-0E5E-A53D-7DE2-BBC6DFB3C2E2}"/>
              </a:ext>
            </a:extLst>
          </p:cNvPr>
          <p:cNvSpPr>
            <a:spLocks/>
          </p:cNvSpPr>
          <p:nvPr/>
        </p:nvSpPr>
        <p:spPr>
          <a:xfrm>
            <a:off x="6325673" y="4853961"/>
            <a:ext cx="5701657" cy="1603989"/>
          </a:xfrm>
          <a:prstGeom prst="roundRect">
            <a:avLst/>
          </a:prstGeom>
          <a:solidFill>
            <a:schemeClr val="bg1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92" name="Flowchart: Connector 91">
            <a:extLst>
              <a:ext uri="{FF2B5EF4-FFF2-40B4-BE49-F238E27FC236}">
                <a16:creationId xmlns:a16="http://schemas.microsoft.com/office/drawing/2014/main" id="{E8FB2245-C901-F506-FCC6-CA22CFA0B23F}"/>
              </a:ext>
            </a:extLst>
          </p:cNvPr>
          <p:cNvSpPr/>
          <p:nvPr/>
        </p:nvSpPr>
        <p:spPr>
          <a:xfrm>
            <a:off x="459350" y="4940400"/>
            <a:ext cx="428451" cy="412714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673FA256-38A2-0593-2F03-5C00D38ABB51}"/>
              </a:ext>
            </a:extLst>
          </p:cNvPr>
          <p:cNvSpPr txBox="1">
            <a:spLocks/>
          </p:cNvSpPr>
          <p:nvPr/>
        </p:nvSpPr>
        <p:spPr>
          <a:xfrm>
            <a:off x="939978" y="4948637"/>
            <a:ext cx="317995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Stability Across Random Seeds</a:t>
            </a:r>
            <a:endParaRPr lang="en-PH" sz="1600" b="1" dirty="0">
              <a:solidFill>
                <a:srgbClr val="061946"/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C34F750-0201-9C9B-350A-86F4F6726CCD}"/>
              </a:ext>
            </a:extLst>
          </p:cNvPr>
          <p:cNvCxnSpPr>
            <a:cxnSpLocks/>
          </p:cNvCxnSpPr>
          <p:nvPr/>
        </p:nvCxnSpPr>
        <p:spPr>
          <a:xfrm>
            <a:off x="1230885" y="5620226"/>
            <a:ext cx="4158585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1F6956C2-3BB4-BB68-6465-6FB862210CED}"/>
              </a:ext>
            </a:extLst>
          </p:cNvPr>
          <p:cNvSpPr/>
          <p:nvPr/>
        </p:nvSpPr>
        <p:spPr>
          <a:xfrm>
            <a:off x="1160286" y="5552356"/>
            <a:ext cx="141198" cy="133106"/>
          </a:xfrm>
          <a:prstGeom prst="flowChartConnector">
            <a:avLst/>
          </a:prstGeom>
          <a:solidFill>
            <a:srgbClr val="0142A2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8E6637D4-D16F-A78A-7C66-9B6BCB4E015F}"/>
              </a:ext>
            </a:extLst>
          </p:cNvPr>
          <p:cNvSpPr/>
          <p:nvPr/>
        </p:nvSpPr>
        <p:spPr>
          <a:xfrm>
            <a:off x="5318871" y="5560242"/>
            <a:ext cx="141198" cy="133106"/>
          </a:xfrm>
          <a:prstGeom prst="flowChartConnector">
            <a:avLst/>
          </a:prstGeom>
          <a:solidFill>
            <a:srgbClr val="0142A2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0AA3E0EC-5AB9-F44E-FEB0-0EFB10664317}"/>
              </a:ext>
            </a:extLst>
          </p:cNvPr>
          <p:cNvSpPr/>
          <p:nvPr/>
        </p:nvSpPr>
        <p:spPr>
          <a:xfrm>
            <a:off x="2271461" y="5557879"/>
            <a:ext cx="141198" cy="133106"/>
          </a:xfrm>
          <a:prstGeom prst="flowChartConnector">
            <a:avLst/>
          </a:prstGeom>
          <a:solidFill>
            <a:srgbClr val="0142A2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0CAA869B-5186-D8BC-91A9-C31E557B67F7}"/>
              </a:ext>
            </a:extLst>
          </p:cNvPr>
          <p:cNvSpPr/>
          <p:nvPr/>
        </p:nvSpPr>
        <p:spPr>
          <a:xfrm>
            <a:off x="4207696" y="5560242"/>
            <a:ext cx="141198" cy="133106"/>
          </a:xfrm>
          <a:prstGeom prst="flowChartConnector">
            <a:avLst/>
          </a:prstGeom>
          <a:solidFill>
            <a:srgbClr val="0142A2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08" name="Flowchart: Connector 107">
            <a:extLst>
              <a:ext uri="{FF2B5EF4-FFF2-40B4-BE49-F238E27FC236}">
                <a16:creationId xmlns:a16="http://schemas.microsoft.com/office/drawing/2014/main" id="{468B61EC-38CB-ACA5-68FB-4FAE76651AC0}"/>
              </a:ext>
            </a:extLst>
          </p:cNvPr>
          <p:cNvSpPr/>
          <p:nvPr/>
        </p:nvSpPr>
        <p:spPr>
          <a:xfrm>
            <a:off x="3241438" y="5552356"/>
            <a:ext cx="141198" cy="133106"/>
          </a:xfrm>
          <a:prstGeom prst="flowChartConnector">
            <a:avLst/>
          </a:prstGeom>
          <a:solidFill>
            <a:srgbClr val="0142A2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0" name="Title 1">
            <a:extLst>
              <a:ext uri="{FF2B5EF4-FFF2-40B4-BE49-F238E27FC236}">
                <a16:creationId xmlns:a16="http://schemas.microsoft.com/office/drawing/2014/main" id="{F5749B98-01C5-5D3F-72C6-E6F13937F7AF}"/>
              </a:ext>
            </a:extLst>
          </p:cNvPr>
          <p:cNvSpPr txBox="1">
            <a:spLocks/>
          </p:cNvSpPr>
          <p:nvPr/>
        </p:nvSpPr>
        <p:spPr>
          <a:xfrm>
            <a:off x="939978" y="5631450"/>
            <a:ext cx="614838" cy="412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Seed 1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2" name="Title 1">
            <a:extLst>
              <a:ext uri="{FF2B5EF4-FFF2-40B4-BE49-F238E27FC236}">
                <a16:creationId xmlns:a16="http://schemas.microsoft.com/office/drawing/2014/main" id="{7F71AC01-2C42-BA48-B6F3-98810969A53A}"/>
              </a:ext>
            </a:extLst>
          </p:cNvPr>
          <p:cNvSpPr txBox="1">
            <a:spLocks/>
          </p:cNvSpPr>
          <p:nvPr/>
        </p:nvSpPr>
        <p:spPr>
          <a:xfrm>
            <a:off x="1988591" y="5631450"/>
            <a:ext cx="710657" cy="412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Seed 10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4" name="Title 1">
            <a:extLst>
              <a:ext uri="{FF2B5EF4-FFF2-40B4-BE49-F238E27FC236}">
                <a16:creationId xmlns:a16="http://schemas.microsoft.com/office/drawing/2014/main" id="{81FB1FB1-52CA-5B27-E36B-EE88829E3659}"/>
              </a:ext>
            </a:extLst>
          </p:cNvPr>
          <p:cNvSpPr txBox="1">
            <a:spLocks/>
          </p:cNvSpPr>
          <p:nvPr/>
        </p:nvSpPr>
        <p:spPr>
          <a:xfrm>
            <a:off x="2954848" y="5631450"/>
            <a:ext cx="710657" cy="412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Seed 42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022505AA-2D06-F9CB-60D6-926393DB4EA1}"/>
              </a:ext>
            </a:extLst>
          </p:cNvPr>
          <p:cNvSpPr txBox="1">
            <a:spLocks/>
          </p:cNvSpPr>
          <p:nvPr/>
        </p:nvSpPr>
        <p:spPr>
          <a:xfrm>
            <a:off x="3853461" y="5624432"/>
            <a:ext cx="843276" cy="412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Seed 100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FAAB5269-9FD0-3D55-05EE-CE6BD6FB5053}"/>
              </a:ext>
            </a:extLst>
          </p:cNvPr>
          <p:cNvSpPr txBox="1">
            <a:spLocks/>
          </p:cNvSpPr>
          <p:nvPr/>
        </p:nvSpPr>
        <p:spPr>
          <a:xfrm>
            <a:off x="4979969" y="5620226"/>
            <a:ext cx="843276" cy="412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Seed 2026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434E102-A7D5-0947-35C0-42F03DD80B1B}"/>
              </a:ext>
            </a:extLst>
          </p:cNvPr>
          <p:cNvSpPr>
            <a:spLocks/>
          </p:cNvSpPr>
          <p:nvPr/>
        </p:nvSpPr>
        <p:spPr>
          <a:xfrm>
            <a:off x="658682" y="6017406"/>
            <a:ext cx="4988157" cy="375248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600" dirty="0">
                <a:solidFill>
                  <a:srgbClr val="163E64"/>
                </a:solidFill>
              </a:rPr>
              <a:t>Silhouette remained approx. </a:t>
            </a:r>
            <a:r>
              <a:rPr lang="en-PH" sz="1600" b="1" dirty="0">
                <a:solidFill>
                  <a:srgbClr val="163E64"/>
                </a:solidFill>
              </a:rPr>
              <a:t>0.4328 – 0.4329</a:t>
            </a:r>
          </a:p>
        </p:txBody>
      </p:sp>
      <p:sp>
        <p:nvSpPr>
          <p:cNvPr id="128" name="Flowchart: Connector 127">
            <a:extLst>
              <a:ext uri="{FF2B5EF4-FFF2-40B4-BE49-F238E27FC236}">
                <a16:creationId xmlns:a16="http://schemas.microsoft.com/office/drawing/2014/main" id="{740DAC4A-3A68-2FDD-FA15-757BE8CF3649}"/>
              </a:ext>
            </a:extLst>
          </p:cNvPr>
          <p:cNvSpPr/>
          <p:nvPr/>
        </p:nvSpPr>
        <p:spPr>
          <a:xfrm>
            <a:off x="6461739" y="4922180"/>
            <a:ext cx="428451" cy="412714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30" name="Graphic 129" descr="Lights On with solid fill">
            <a:extLst>
              <a:ext uri="{FF2B5EF4-FFF2-40B4-BE49-F238E27FC236}">
                <a16:creationId xmlns:a16="http://schemas.microsoft.com/office/drawing/2014/main" id="{F0AA194B-81F6-AF0C-094C-E6D59FBC6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88571" y="4929695"/>
            <a:ext cx="365159" cy="365159"/>
          </a:xfrm>
          <a:prstGeom prst="rect">
            <a:avLst/>
          </a:prstGeom>
        </p:spPr>
      </p:pic>
      <p:pic>
        <p:nvPicPr>
          <p:cNvPr id="132" name="Graphic 131" descr="Single gear with solid fill">
            <a:extLst>
              <a:ext uri="{FF2B5EF4-FFF2-40B4-BE49-F238E27FC236}">
                <a16:creationId xmlns:a16="http://schemas.microsoft.com/office/drawing/2014/main" id="{88B6C69C-E6AB-1F8C-A382-7287CD517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849" y="4964328"/>
            <a:ext cx="364857" cy="364857"/>
          </a:xfrm>
          <a:prstGeom prst="rect">
            <a:avLst/>
          </a:prstGeom>
        </p:spPr>
      </p:pic>
      <p:sp>
        <p:nvSpPr>
          <p:cNvPr id="134" name="Title 1">
            <a:extLst>
              <a:ext uri="{FF2B5EF4-FFF2-40B4-BE49-F238E27FC236}">
                <a16:creationId xmlns:a16="http://schemas.microsoft.com/office/drawing/2014/main" id="{2A6085A0-B129-AB27-4977-94F451AD44FB}"/>
              </a:ext>
            </a:extLst>
          </p:cNvPr>
          <p:cNvSpPr txBox="1">
            <a:spLocks/>
          </p:cNvSpPr>
          <p:nvPr/>
        </p:nvSpPr>
        <p:spPr>
          <a:xfrm>
            <a:off x="6961036" y="4908792"/>
            <a:ext cx="317995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Key Insights</a:t>
            </a:r>
            <a:endParaRPr lang="en-PH" sz="1600" b="1" dirty="0">
              <a:solidFill>
                <a:srgbClr val="061946"/>
              </a:solidFill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DFD974D3-6E17-BAF5-DF91-409560CE4481}"/>
              </a:ext>
            </a:extLst>
          </p:cNvPr>
          <p:cNvSpPr>
            <a:spLocks/>
          </p:cNvSpPr>
          <p:nvPr/>
        </p:nvSpPr>
        <p:spPr>
          <a:xfrm>
            <a:off x="7205024" y="5286220"/>
            <a:ext cx="4275203" cy="1006629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400" dirty="0">
                <a:solidFill>
                  <a:srgbClr val="163E64"/>
                </a:solidFill>
              </a:rPr>
              <a:t>The final model produces </a:t>
            </a:r>
            <a:r>
              <a:rPr lang="en-PH" sz="1400" b="1" dirty="0">
                <a:solidFill>
                  <a:srgbClr val="163E64"/>
                </a:solidFill>
              </a:rPr>
              <a:t>moderately separated and stable customer segments. </a:t>
            </a:r>
          </a:p>
          <a:p>
            <a:endParaRPr lang="en-PH" sz="1100" dirty="0">
              <a:solidFill>
                <a:srgbClr val="163E64"/>
              </a:solidFill>
            </a:endParaRPr>
          </a:p>
          <a:p>
            <a:r>
              <a:rPr lang="en-PH" sz="1400" b="1" dirty="0">
                <a:solidFill>
                  <a:srgbClr val="163E64"/>
                </a:solidFill>
              </a:rPr>
              <a:t>K = 2 </a:t>
            </a:r>
            <a:r>
              <a:rPr lang="en-PH" sz="1400" dirty="0">
                <a:solidFill>
                  <a:srgbClr val="163E64"/>
                </a:solidFill>
              </a:rPr>
              <a:t>provides a good balance between clustering </a:t>
            </a:r>
            <a:r>
              <a:rPr lang="en-PH" sz="1400" b="1" dirty="0">
                <a:solidFill>
                  <a:srgbClr val="163E64"/>
                </a:solidFill>
              </a:rPr>
              <a:t>quality, stability, and business interpretability.</a:t>
            </a:r>
          </a:p>
        </p:txBody>
      </p:sp>
    </p:spTree>
    <p:extLst>
      <p:ext uri="{BB962C8B-B14F-4D97-AF65-F5344CB8AC3E}">
        <p14:creationId xmlns:p14="http://schemas.microsoft.com/office/powerpoint/2010/main" val="249455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5AF9A-B622-7044-15D6-FE3E815B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404271-98C5-0703-17F6-63E12759B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32DA33-4224-0299-358D-A6AFAAF50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9B716-119C-2F69-205A-7D5E1471D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A60DE-E046-3D5D-AE13-0E9A8C313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6387E4-36F7-0604-73A1-DB0AB5709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C50FE-66CC-9198-07D3-569ADE62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08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PCA 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4116F7-8164-2529-1602-FA4A646B9969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CC5D-8D04-1223-DCDE-26A76186B1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77C629-827E-0238-F025-2AE1CA7D9E93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8665005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PCA Visualization of Customer Segments</a:t>
            </a:r>
            <a:endParaRPr lang="en-PH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490EF25-F3DA-A4F0-F9BE-BEAA44FE8395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669969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segments in a two-dimensional feature space 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9B518E-89F3-5015-8E54-65FD9387B93D}"/>
              </a:ext>
            </a:extLst>
          </p:cNvPr>
          <p:cNvSpPr>
            <a:spLocks/>
          </p:cNvSpPr>
          <p:nvPr/>
        </p:nvSpPr>
        <p:spPr>
          <a:xfrm>
            <a:off x="9373332" y="1046195"/>
            <a:ext cx="2700661" cy="1445425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C522155-8FF2-C01B-2ABA-580E56E2EC72}"/>
              </a:ext>
            </a:extLst>
          </p:cNvPr>
          <p:cNvSpPr>
            <a:spLocks/>
          </p:cNvSpPr>
          <p:nvPr/>
        </p:nvSpPr>
        <p:spPr>
          <a:xfrm>
            <a:off x="9373332" y="4082398"/>
            <a:ext cx="2700661" cy="1445425"/>
          </a:xfrm>
          <a:prstGeom prst="roundRect">
            <a:avLst/>
          </a:prstGeom>
          <a:solidFill>
            <a:srgbClr val="F2F1FB"/>
          </a:solidFill>
          <a:ln>
            <a:solidFill>
              <a:srgbClr val="F2F1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58247AAA-347F-10BE-3DE4-F9D9A052D374}"/>
              </a:ext>
            </a:extLst>
          </p:cNvPr>
          <p:cNvSpPr/>
          <p:nvPr/>
        </p:nvSpPr>
        <p:spPr>
          <a:xfrm>
            <a:off x="9479044" y="1333422"/>
            <a:ext cx="820650" cy="810376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BECD5165-546C-31D8-4B64-A1CBC7848C67}"/>
              </a:ext>
            </a:extLst>
          </p:cNvPr>
          <p:cNvSpPr txBox="1">
            <a:spLocks/>
          </p:cNvSpPr>
          <p:nvPr/>
        </p:nvSpPr>
        <p:spPr>
          <a:xfrm>
            <a:off x="10437544" y="1414787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4DD4"/>
                </a:solidFill>
              </a:rPr>
              <a:t>72.07%</a:t>
            </a:r>
            <a:endParaRPr lang="en-PH" sz="3200" b="1" dirty="0">
              <a:solidFill>
                <a:srgbClr val="004DD4"/>
              </a:solidFill>
            </a:endParaRP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39FD2DE7-EC2F-F8FE-7FC1-F83B6E727656}"/>
              </a:ext>
            </a:extLst>
          </p:cNvPr>
          <p:cNvSpPr txBox="1">
            <a:spLocks/>
          </p:cNvSpPr>
          <p:nvPr/>
        </p:nvSpPr>
        <p:spPr>
          <a:xfrm>
            <a:off x="10440998" y="1646951"/>
            <a:ext cx="151100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PC1 Variance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78EE9B-76CD-39C4-A2E4-1B6018FE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" y="1530748"/>
            <a:ext cx="8996904" cy="3935287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987C3CC-AF88-800C-6F24-8FC9489C975C}"/>
              </a:ext>
            </a:extLst>
          </p:cNvPr>
          <p:cNvSpPr>
            <a:spLocks/>
          </p:cNvSpPr>
          <p:nvPr/>
        </p:nvSpPr>
        <p:spPr>
          <a:xfrm>
            <a:off x="9341194" y="2576026"/>
            <a:ext cx="2700661" cy="1445425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9FF26551-6B7E-6A47-1210-589CB306873E}"/>
              </a:ext>
            </a:extLst>
          </p:cNvPr>
          <p:cNvSpPr/>
          <p:nvPr/>
        </p:nvSpPr>
        <p:spPr>
          <a:xfrm>
            <a:off x="9446906" y="2863253"/>
            <a:ext cx="820650" cy="810376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ACB02CD8-4DDC-8259-B7CC-7A2936C29980}"/>
              </a:ext>
            </a:extLst>
          </p:cNvPr>
          <p:cNvSpPr txBox="1">
            <a:spLocks/>
          </p:cNvSpPr>
          <p:nvPr/>
        </p:nvSpPr>
        <p:spPr>
          <a:xfrm>
            <a:off x="10405406" y="2944618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4DD4"/>
                </a:solidFill>
              </a:rPr>
              <a:t>21.58%</a:t>
            </a:r>
            <a:endParaRPr lang="en-PH" sz="3200" b="1" dirty="0">
              <a:solidFill>
                <a:srgbClr val="004DD4"/>
              </a:solidFill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F6C93D80-7A9A-6A91-A111-24F6422CF906}"/>
              </a:ext>
            </a:extLst>
          </p:cNvPr>
          <p:cNvSpPr txBox="1">
            <a:spLocks/>
          </p:cNvSpPr>
          <p:nvPr/>
        </p:nvSpPr>
        <p:spPr>
          <a:xfrm>
            <a:off x="10408860" y="3176782"/>
            <a:ext cx="151100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PC2 Variance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7" name="Graphic 56" descr="Presentation with pie chart with solid fill">
            <a:extLst>
              <a:ext uri="{FF2B5EF4-FFF2-40B4-BE49-F238E27FC236}">
                <a16:creationId xmlns:a16="http://schemas.microsoft.com/office/drawing/2014/main" id="{6EDAFD1B-F014-5780-E579-82B217B0D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2961" y="1402936"/>
            <a:ext cx="643466" cy="643466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93532D1-1310-FEFE-08CF-9EA23C16F7B3}"/>
              </a:ext>
            </a:extLst>
          </p:cNvPr>
          <p:cNvCxnSpPr>
            <a:cxnSpLocks/>
          </p:cNvCxnSpPr>
          <p:nvPr/>
        </p:nvCxnSpPr>
        <p:spPr>
          <a:xfrm flipV="1">
            <a:off x="10416055" y="1190305"/>
            <a:ext cx="0" cy="10292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FBAE61F-344F-1137-896F-E3C8ADC48B28}"/>
              </a:ext>
            </a:extLst>
          </p:cNvPr>
          <p:cNvCxnSpPr>
            <a:cxnSpLocks/>
          </p:cNvCxnSpPr>
          <p:nvPr/>
        </p:nvCxnSpPr>
        <p:spPr>
          <a:xfrm flipV="1">
            <a:off x="10391586" y="2784114"/>
            <a:ext cx="0" cy="102924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7" name="Graphic 76" descr="Presentation with pie chart with solid fill">
            <a:extLst>
              <a:ext uri="{FF2B5EF4-FFF2-40B4-BE49-F238E27FC236}">
                <a16:creationId xmlns:a16="http://schemas.microsoft.com/office/drawing/2014/main" id="{6C516C72-3623-8791-48C0-6BF71ADCE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7636" y="2981194"/>
            <a:ext cx="643466" cy="643466"/>
          </a:xfrm>
          <a:prstGeom prst="rect">
            <a:avLst/>
          </a:prstGeom>
        </p:spPr>
      </p:pic>
      <p:sp>
        <p:nvSpPr>
          <p:cNvPr id="81" name="Title 1">
            <a:extLst>
              <a:ext uri="{FF2B5EF4-FFF2-40B4-BE49-F238E27FC236}">
                <a16:creationId xmlns:a16="http://schemas.microsoft.com/office/drawing/2014/main" id="{B22D496A-705E-A094-ED05-A28D38A0798E}"/>
              </a:ext>
            </a:extLst>
          </p:cNvPr>
          <p:cNvSpPr txBox="1">
            <a:spLocks/>
          </p:cNvSpPr>
          <p:nvPr/>
        </p:nvSpPr>
        <p:spPr>
          <a:xfrm>
            <a:off x="10423724" y="4361800"/>
            <a:ext cx="172573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410ABF"/>
                </a:solidFill>
              </a:rPr>
              <a:t>93.65%</a:t>
            </a:r>
            <a:endParaRPr lang="en-PH" sz="3200" b="1" dirty="0">
              <a:solidFill>
                <a:srgbClr val="410ABF"/>
              </a:solidFill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B1A412C-57F4-BDE5-5994-4A205AC98098}"/>
              </a:ext>
            </a:extLst>
          </p:cNvPr>
          <p:cNvSpPr txBox="1">
            <a:spLocks/>
          </p:cNvSpPr>
          <p:nvPr/>
        </p:nvSpPr>
        <p:spPr>
          <a:xfrm>
            <a:off x="10423724" y="4770319"/>
            <a:ext cx="1682406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Total Variance Retained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6A46B581-98A8-451F-5802-BCB3E041E100}"/>
              </a:ext>
            </a:extLst>
          </p:cNvPr>
          <p:cNvSpPr/>
          <p:nvPr/>
        </p:nvSpPr>
        <p:spPr>
          <a:xfrm>
            <a:off x="9511182" y="4365131"/>
            <a:ext cx="820650" cy="810376"/>
          </a:xfrm>
          <a:prstGeom prst="flowChartConnector">
            <a:avLst/>
          </a:prstGeom>
          <a:solidFill>
            <a:srgbClr val="E0D7F9"/>
          </a:solidFill>
          <a:ln>
            <a:solidFill>
              <a:srgbClr val="E0D7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60" name="Graphic 59" descr="Pie chart with solid fill">
            <a:extLst>
              <a:ext uri="{FF2B5EF4-FFF2-40B4-BE49-F238E27FC236}">
                <a16:creationId xmlns:a16="http://schemas.microsoft.com/office/drawing/2014/main" id="{5C6ECDA9-FD1A-A2BF-9F4C-E3250B508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6509" y="4407218"/>
            <a:ext cx="726202" cy="726202"/>
          </a:xfrm>
          <a:prstGeom prst="rect">
            <a:avLst/>
          </a:prstGeom>
        </p:spPr>
      </p:pic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974AEA4-5984-FC17-D710-7B362F4655B0}"/>
              </a:ext>
            </a:extLst>
          </p:cNvPr>
          <p:cNvSpPr>
            <a:spLocks/>
          </p:cNvSpPr>
          <p:nvPr/>
        </p:nvSpPr>
        <p:spPr>
          <a:xfrm>
            <a:off x="486243" y="5647691"/>
            <a:ext cx="4406243" cy="1083072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85D6B14-A6B8-2F06-3290-FFE38E63FDD3}"/>
              </a:ext>
            </a:extLst>
          </p:cNvPr>
          <p:cNvSpPr>
            <a:spLocks/>
          </p:cNvSpPr>
          <p:nvPr/>
        </p:nvSpPr>
        <p:spPr>
          <a:xfrm>
            <a:off x="5497507" y="5646934"/>
            <a:ext cx="6422354" cy="1083829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100" name="Flowchart: Connector 99">
            <a:extLst>
              <a:ext uri="{FF2B5EF4-FFF2-40B4-BE49-F238E27FC236}">
                <a16:creationId xmlns:a16="http://schemas.microsoft.com/office/drawing/2014/main" id="{1F10522B-C8DC-C4A9-FE00-EBF9645CE3ED}"/>
              </a:ext>
            </a:extLst>
          </p:cNvPr>
          <p:cNvSpPr/>
          <p:nvPr/>
        </p:nvSpPr>
        <p:spPr>
          <a:xfrm>
            <a:off x="682884" y="5796033"/>
            <a:ext cx="745573" cy="701034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7" name="Title 1">
            <a:extLst>
              <a:ext uri="{FF2B5EF4-FFF2-40B4-BE49-F238E27FC236}">
                <a16:creationId xmlns:a16="http://schemas.microsoft.com/office/drawing/2014/main" id="{D817FCDB-4A43-9865-8EA8-3AEADB2B427F}"/>
              </a:ext>
            </a:extLst>
          </p:cNvPr>
          <p:cNvSpPr txBox="1">
            <a:spLocks/>
          </p:cNvSpPr>
          <p:nvPr/>
        </p:nvSpPr>
        <p:spPr>
          <a:xfrm>
            <a:off x="1510198" y="5651251"/>
            <a:ext cx="2519695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About The Visualization</a:t>
            </a:r>
            <a:endParaRPr lang="en-PH" sz="1600" b="1" dirty="0">
              <a:solidFill>
                <a:srgbClr val="061946"/>
              </a:solidFill>
            </a:endParaRP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2E9AD477-10DC-25D3-307B-6B614B8406A7}"/>
              </a:ext>
            </a:extLst>
          </p:cNvPr>
          <p:cNvSpPr txBox="1">
            <a:spLocks/>
          </p:cNvSpPr>
          <p:nvPr/>
        </p:nvSpPr>
        <p:spPr>
          <a:xfrm>
            <a:off x="6414793" y="5647691"/>
            <a:ext cx="2023696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Key Insights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122" name="Title 1">
            <a:extLst>
              <a:ext uri="{FF2B5EF4-FFF2-40B4-BE49-F238E27FC236}">
                <a16:creationId xmlns:a16="http://schemas.microsoft.com/office/drawing/2014/main" id="{C4B97A16-116F-67A2-0CE8-F0FECD96D315}"/>
              </a:ext>
            </a:extLst>
          </p:cNvPr>
          <p:cNvSpPr txBox="1">
            <a:spLocks/>
          </p:cNvSpPr>
          <p:nvPr/>
        </p:nvSpPr>
        <p:spPr>
          <a:xfrm>
            <a:off x="6414793" y="6031904"/>
            <a:ext cx="5656444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PCA was applied after clustering to project the three standardized RFM features into two dimensions for visualization. The first two components retain 93.65% of the total variance.</a:t>
            </a:r>
            <a:endParaRPr lang="en-PH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9" name="Title 1">
            <a:extLst>
              <a:ext uri="{FF2B5EF4-FFF2-40B4-BE49-F238E27FC236}">
                <a16:creationId xmlns:a16="http://schemas.microsoft.com/office/drawing/2014/main" id="{77D5C88B-73E0-AAC6-00D9-35A16585C71B}"/>
              </a:ext>
            </a:extLst>
          </p:cNvPr>
          <p:cNvSpPr txBox="1">
            <a:spLocks/>
          </p:cNvSpPr>
          <p:nvPr/>
        </p:nvSpPr>
        <p:spPr>
          <a:xfrm>
            <a:off x="1602253" y="6000522"/>
            <a:ext cx="3116437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PCA was used for visualization, not for training the K-Means model. </a:t>
            </a:r>
            <a:endParaRPr lang="en-PH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A4318A42-77DE-E6CC-68FE-70D17F0CA1E5}"/>
              </a:ext>
            </a:extLst>
          </p:cNvPr>
          <p:cNvSpPr/>
          <p:nvPr/>
        </p:nvSpPr>
        <p:spPr>
          <a:xfrm>
            <a:off x="5635976" y="5796033"/>
            <a:ext cx="745573" cy="701034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37" name="Graphic 136" descr="Lights On with solid fill">
            <a:extLst>
              <a:ext uri="{FF2B5EF4-FFF2-40B4-BE49-F238E27FC236}">
                <a16:creationId xmlns:a16="http://schemas.microsoft.com/office/drawing/2014/main" id="{1928EEC4-122A-689A-DD26-3C67116EDC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1378" y="5854048"/>
            <a:ext cx="574236" cy="574236"/>
          </a:xfrm>
          <a:prstGeom prst="rect">
            <a:avLst/>
          </a:prstGeom>
        </p:spPr>
      </p:pic>
      <p:pic>
        <p:nvPicPr>
          <p:cNvPr id="139" name="Graphic 138" descr="Database with solid fill">
            <a:extLst>
              <a:ext uri="{FF2B5EF4-FFF2-40B4-BE49-F238E27FC236}">
                <a16:creationId xmlns:a16="http://schemas.microsoft.com/office/drawing/2014/main" id="{36635E7B-A6CD-94C7-0A60-4A225AF6F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552" y="5854048"/>
            <a:ext cx="574236" cy="57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8B9A5-934F-67FB-B934-5B8A2AF27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1AA5BB-01AA-9491-4824-8EA022498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D5FDAE-0BCB-0885-EFA3-0923D9AC7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9CE91-0F82-973D-9A43-3CE1BBE2A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BBA154-0B03-9084-E761-52BB94FA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7ECBF9-AE28-D89D-B4FB-8C9C772D2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5C6F02-D5D0-B1F9-9319-4C8FE417A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09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Final Segmentation 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DE8C3F-C273-BD95-5DD4-A422620FE4EC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746E33-2291-F48F-D3E9-50A8FFFA1A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B91D54-F15F-29B8-5368-0A2C627C0D7D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8665005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Final Customer Segmentation</a:t>
            </a:r>
            <a:endParaRPr lang="en-PH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B15A8AB-5FF4-B579-D137-D03CDF3E27CE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669969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Understanding what the two customer segments represent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7043B41-2C5A-9436-4563-EFD78ABC8306}"/>
              </a:ext>
            </a:extLst>
          </p:cNvPr>
          <p:cNvSpPr>
            <a:spLocks/>
          </p:cNvSpPr>
          <p:nvPr/>
        </p:nvSpPr>
        <p:spPr>
          <a:xfrm>
            <a:off x="933450" y="6029729"/>
            <a:ext cx="10986411" cy="701034"/>
          </a:xfrm>
          <a:prstGeom prst="roundRect">
            <a:avLst/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FC765AFF-0932-CBB8-754D-543CA6985AD9}"/>
              </a:ext>
            </a:extLst>
          </p:cNvPr>
          <p:cNvSpPr txBox="1">
            <a:spLocks/>
          </p:cNvSpPr>
          <p:nvPr/>
        </p:nvSpPr>
        <p:spPr>
          <a:xfrm>
            <a:off x="1968643" y="6178548"/>
            <a:ext cx="2368156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243F"/>
                </a:solidFill>
              </a:rPr>
              <a:t>Business Interpretation</a:t>
            </a:r>
            <a:endParaRPr lang="en-PH" sz="1600" b="1" dirty="0">
              <a:solidFill>
                <a:srgbClr val="06243F"/>
              </a:solidFill>
            </a:endParaRPr>
          </a:p>
        </p:txBody>
      </p:sp>
      <p:sp>
        <p:nvSpPr>
          <p:cNvPr id="122" name="Title 1">
            <a:extLst>
              <a:ext uri="{FF2B5EF4-FFF2-40B4-BE49-F238E27FC236}">
                <a16:creationId xmlns:a16="http://schemas.microsoft.com/office/drawing/2014/main" id="{C331A683-AA69-A46A-F629-A0E3D4371498}"/>
              </a:ext>
            </a:extLst>
          </p:cNvPr>
          <p:cNvSpPr txBox="1">
            <a:spLocks/>
          </p:cNvSpPr>
          <p:nvPr/>
        </p:nvSpPr>
        <p:spPr>
          <a:xfrm>
            <a:off x="4191000" y="6031904"/>
            <a:ext cx="7880237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Cluster 1 customers purchase more recently, more frequently, and spend substantially more, making them the </a:t>
            </a: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primary revenue-driving customer segment.</a:t>
            </a:r>
            <a:endParaRPr lang="en-PH" sz="1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FC6570A6-9ACE-AD23-B411-39C45711CB84}"/>
              </a:ext>
            </a:extLst>
          </p:cNvPr>
          <p:cNvSpPr/>
          <p:nvPr/>
        </p:nvSpPr>
        <p:spPr>
          <a:xfrm>
            <a:off x="1196646" y="6090555"/>
            <a:ext cx="599775" cy="588702"/>
          </a:xfrm>
          <a:prstGeom prst="flowChartConnector">
            <a:avLst/>
          </a:prstGeom>
          <a:solidFill>
            <a:srgbClr val="D0EFE7"/>
          </a:solidFill>
          <a:ln>
            <a:solidFill>
              <a:srgbClr val="D0EF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37" name="Graphic 136" descr="Lights On with solid fill">
            <a:extLst>
              <a:ext uri="{FF2B5EF4-FFF2-40B4-BE49-F238E27FC236}">
                <a16:creationId xmlns:a16="http://schemas.microsoft.com/office/drawing/2014/main" id="{9AA3DE5F-D1AB-B259-924A-0D79BCDCF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8816" y="6145877"/>
            <a:ext cx="460837" cy="46083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FE5151-72F8-695B-0B6B-ABA050744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83465"/>
              </p:ext>
            </p:extLst>
          </p:nvPr>
        </p:nvGraphicFramePr>
        <p:xfrm>
          <a:off x="312282" y="1671500"/>
          <a:ext cx="11567436" cy="296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5812">
                  <a:extLst>
                    <a:ext uri="{9D8B030D-6E8A-4147-A177-3AD203B41FA5}">
                      <a16:colId xmlns:a16="http://schemas.microsoft.com/office/drawing/2014/main" val="1792303790"/>
                    </a:ext>
                  </a:extLst>
                </a:gridCol>
                <a:gridCol w="3855812">
                  <a:extLst>
                    <a:ext uri="{9D8B030D-6E8A-4147-A177-3AD203B41FA5}">
                      <a16:colId xmlns:a16="http://schemas.microsoft.com/office/drawing/2014/main" val="1703218536"/>
                    </a:ext>
                  </a:extLst>
                </a:gridCol>
                <a:gridCol w="3855812">
                  <a:extLst>
                    <a:ext uri="{9D8B030D-6E8A-4147-A177-3AD203B41FA5}">
                      <a16:colId xmlns:a16="http://schemas.microsoft.com/office/drawing/2014/main" val="1398735567"/>
                    </a:ext>
                  </a:extLst>
                </a:gridCol>
              </a:tblGrid>
              <a:tr h="595450">
                <a:tc>
                  <a:txBody>
                    <a:bodyPr/>
                    <a:lstStyle/>
                    <a:p>
                      <a:pPr algn="ctr"/>
                      <a:r>
                        <a:rPr lang="en-PH" dirty="0">
                          <a:solidFill>
                            <a:srgbClr val="00074D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D8D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dirty="0">
                          <a:solidFill>
                            <a:srgbClr val="0037AF"/>
                          </a:solidFill>
                        </a:rPr>
                        <a:t>Cluster 0</a:t>
                      </a:r>
                    </a:p>
                    <a:p>
                      <a:pPr algn="ctr"/>
                      <a:r>
                        <a:rPr lang="en-PH" sz="1100" dirty="0">
                          <a:solidFill>
                            <a:srgbClr val="0037AF"/>
                          </a:solidFill>
                        </a:rPr>
                        <a:t>Lower-Engagement Customers</a:t>
                      </a:r>
                    </a:p>
                  </a:txBody>
                  <a:tcPr anchor="ctr">
                    <a:solidFill>
                      <a:srgbClr val="DAE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dirty="0">
                          <a:solidFill>
                            <a:srgbClr val="E04205"/>
                          </a:solidFill>
                        </a:rPr>
                        <a:t>Cluster 1</a:t>
                      </a:r>
                    </a:p>
                    <a:p>
                      <a:pPr algn="ctr"/>
                      <a:r>
                        <a:rPr lang="en-PH" sz="1100" dirty="0">
                          <a:solidFill>
                            <a:srgbClr val="E04205"/>
                          </a:solidFill>
                        </a:rPr>
                        <a:t>Higher-Engagement Customers</a:t>
                      </a:r>
                    </a:p>
                  </a:txBody>
                  <a:tcPr anchor="ctr">
                    <a:solidFill>
                      <a:srgbClr val="FBD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79167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sz="1600" dirty="0">
                          <a:solidFill>
                            <a:srgbClr val="00074D"/>
                          </a:solidFill>
                        </a:rPr>
                        <a:t>Customers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2,519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1,819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01731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sz="1600" dirty="0">
                          <a:solidFill>
                            <a:srgbClr val="00074D"/>
                          </a:solidFill>
                        </a:rPr>
                        <a:t>Customer Share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58.07%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41.93%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37627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sz="1600" dirty="0">
                          <a:solidFill>
                            <a:srgbClr val="00074D"/>
                          </a:solidFill>
                        </a:rPr>
                        <a:t>Avg. Recency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136.29 days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31.95 days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181107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sz="1600" dirty="0">
                          <a:solidFill>
                            <a:srgbClr val="00074D"/>
                          </a:solidFill>
                        </a:rPr>
                        <a:t>Avg . Frequency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1.55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8.04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114978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sz="1600" dirty="0">
                          <a:solidFill>
                            <a:srgbClr val="00074D"/>
                          </a:solidFill>
                        </a:rPr>
                        <a:t>Avg. Monetary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£435.99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600" kern="1200" dirty="0">
                          <a:solidFill>
                            <a:srgbClr val="00074D"/>
                          </a:solidFill>
                          <a:latin typeface="+mn-lt"/>
                          <a:ea typeface="+mn-ea"/>
                          <a:cs typeface="+mn-cs"/>
                        </a:rPr>
                        <a:t>£4,281.99</a:t>
                      </a:r>
                    </a:p>
                  </a:txBody>
                  <a:tcPr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31538"/>
                  </a:ext>
                </a:extLst>
              </a:tr>
              <a:tr h="381548">
                <a:tc>
                  <a:txBody>
                    <a:bodyPr/>
                    <a:lstStyle/>
                    <a:p>
                      <a:r>
                        <a:rPr lang="en-PH" b="1" dirty="0">
                          <a:solidFill>
                            <a:srgbClr val="00074D"/>
                          </a:solidFill>
                        </a:rPr>
                        <a:t>Revenue Share</a:t>
                      </a:r>
                    </a:p>
                  </a:txBody>
                  <a:tcPr>
                    <a:solidFill>
                      <a:srgbClr val="D8DD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2400" b="1" kern="1200" dirty="0">
                          <a:solidFill>
                            <a:srgbClr val="002FB2"/>
                          </a:solidFill>
                          <a:latin typeface="+mn-lt"/>
                          <a:ea typeface="+mn-ea"/>
                          <a:cs typeface="+mn-cs"/>
                        </a:rPr>
                        <a:t>12.36%</a:t>
                      </a:r>
                    </a:p>
                  </a:txBody>
                  <a:tcPr>
                    <a:solidFill>
                      <a:srgbClr val="DAEAF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PH" sz="2400" b="1" kern="1200" dirty="0">
                          <a:solidFill>
                            <a:srgbClr val="E73B0B"/>
                          </a:solidFill>
                          <a:latin typeface="+mn-lt"/>
                          <a:ea typeface="+mn-ea"/>
                          <a:cs typeface="+mn-cs"/>
                        </a:rPr>
                        <a:t>87.64%</a:t>
                      </a:r>
                    </a:p>
                  </a:txBody>
                  <a:tcPr>
                    <a:solidFill>
                      <a:srgbClr val="FBDA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359607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25FB4A-571E-8D85-CE42-8E72B13A1D17}"/>
              </a:ext>
            </a:extLst>
          </p:cNvPr>
          <p:cNvSpPr>
            <a:spLocks/>
          </p:cNvSpPr>
          <p:nvPr/>
        </p:nvSpPr>
        <p:spPr>
          <a:xfrm>
            <a:off x="312282" y="4768257"/>
            <a:ext cx="4594998" cy="1194393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1A76248A-2C62-2FC4-4DDC-C599FB3DC911}"/>
              </a:ext>
            </a:extLst>
          </p:cNvPr>
          <p:cNvSpPr/>
          <p:nvPr/>
        </p:nvSpPr>
        <p:spPr>
          <a:xfrm>
            <a:off x="536558" y="4869604"/>
            <a:ext cx="995157" cy="951419"/>
          </a:xfrm>
          <a:prstGeom prst="flowChartConnector">
            <a:avLst/>
          </a:prstGeom>
          <a:solidFill>
            <a:srgbClr val="CCE3F8"/>
          </a:solidFill>
          <a:ln>
            <a:solidFill>
              <a:srgbClr val="CCE3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6843B28-A5CF-DD21-DB64-08DC9438ACCD}"/>
              </a:ext>
            </a:extLst>
          </p:cNvPr>
          <p:cNvSpPr txBox="1">
            <a:spLocks/>
          </p:cNvSpPr>
          <p:nvPr/>
        </p:nvSpPr>
        <p:spPr>
          <a:xfrm>
            <a:off x="1796421" y="4813019"/>
            <a:ext cx="2820466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Strongest Cluster Separator:</a:t>
            </a:r>
            <a:endParaRPr lang="en-PH" sz="1600" b="1" dirty="0">
              <a:solidFill>
                <a:srgbClr val="061946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8851522-BC07-DEC8-2AFF-10A842DE1179}"/>
              </a:ext>
            </a:extLst>
          </p:cNvPr>
          <p:cNvSpPr txBox="1">
            <a:spLocks/>
          </p:cNvSpPr>
          <p:nvPr/>
        </p:nvSpPr>
        <p:spPr>
          <a:xfrm>
            <a:off x="2116368" y="5134577"/>
            <a:ext cx="2396900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4DD4"/>
                </a:solidFill>
              </a:rPr>
              <a:t>Frequency</a:t>
            </a:r>
            <a:endParaRPr lang="en-PH" sz="3200" b="1" dirty="0">
              <a:solidFill>
                <a:srgbClr val="004DD4"/>
              </a:solidFill>
            </a:endParaRPr>
          </a:p>
        </p:txBody>
      </p:sp>
      <p:pic>
        <p:nvPicPr>
          <p:cNvPr id="26" name="Graphic 25" descr="Signal with solid fill">
            <a:extLst>
              <a:ext uri="{FF2B5EF4-FFF2-40B4-BE49-F238E27FC236}">
                <a16:creationId xmlns:a16="http://schemas.microsoft.com/office/drawing/2014/main" id="{B886B153-0933-EDE8-B361-D0274ED2A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585" y="4979648"/>
            <a:ext cx="653130" cy="65313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F98439CC-F000-607B-833C-9E7B35E7569B}"/>
              </a:ext>
            </a:extLst>
          </p:cNvPr>
          <p:cNvSpPr txBox="1">
            <a:spLocks/>
          </p:cNvSpPr>
          <p:nvPr/>
        </p:nvSpPr>
        <p:spPr>
          <a:xfrm>
            <a:off x="1942219" y="5408788"/>
            <a:ext cx="2368156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Followed by Monetary and Recency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AC18A2-0C07-C653-20B0-62E78D1FE174}"/>
              </a:ext>
            </a:extLst>
          </p:cNvPr>
          <p:cNvSpPr>
            <a:spLocks/>
          </p:cNvSpPr>
          <p:nvPr/>
        </p:nvSpPr>
        <p:spPr>
          <a:xfrm>
            <a:off x="5201540" y="4768257"/>
            <a:ext cx="6329875" cy="1148792"/>
          </a:xfrm>
          <a:prstGeom prst="roundRect">
            <a:avLst/>
          </a:prstGeom>
          <a:solidFill>
            <a:srgbClr val="FAF4F0"/>
          </a:solidFill>
          <a:ln>
            <a:solidFill>
              <a:srgbClr val="FAF4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DA0E50F2-3EDC-9877-0595-989FA1DB581B}"/>
              </a:ext>
            </a:extLst>
          </p:cNvPr>
          <p:cNvSpPr/>
          <p:nvPr/>
        </p:nvSpPr>
        <p:spPr>
          <a:xfrm>
            <a:off x="5486630" y="4945800"/>
            <a:ext cx="798294" cy="790268"/>
          </a:xfrm>
          <a:prstGeom prst="flowChartConnector">
            <a:avLst/>
          </a:prstGeom>
          <a:solidFill>
            <a:srgbClr val="FBE0CB"/>
          </a:solidFill>
          <a:ln>
            <a:solidFill>
              <a:srgbClr val="FBE0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8A608201-E47C-6E19-E74D-9937331A7684}"/>
              </a:ext>
            </a:extLst>
          </p:cNvPr>
          <p:cNvSpPr txBox="1">
            <a:spLocks/>
          </p:cNvSpPr>
          <p:nvPr/>
        </p:nvSpPr>
        <p:spPr>
          <a:xfrm>
            <a:off x="6968857" y="4842764"/>
            <a:ext cx="1615635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96800"/>
                </a:solidFill>
              </a:rPr>
              <a:t>41.93%</a:t>
            </a:r>
            <a:endParaRPr lang="en-PH" sz="3200" b="1" dirty="0">
              <a:solidFill>
                <a:srgbClr val="F96800"/>
              </a:solidFill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62FD06BC-D5AE-DE32-4138-CFC06887B260}"/>
              </a:ext>
            </a:extLst>
          </p:cNvPr>
          <p:cNvSpPr txBox="1">
            <a:spLocks/>
          </p:cNvSpPr>
          <p:nvPr/>
        </p:nvSpPr>
        <p:spPr>
          <a:xfrm>
            <a:off x="7067412" y="5377622"/>
            <a:ext cx="4111008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 relatively smaller customer segment accounts for the majority of monetary value.</a:t>
            </a:r>
            <a:endParaRPr lang="en-PH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6" name="Graphic 45" descr="Bullseye with solid fill">
            <a:extLst>
              <a:ext uri="{FF2B5EF4-FFF2-40B4-BE49-F238E27FC236}">
                <a16:creationId xmlns:a16="http://schemas.microsoft.com/office/drawing/2014/main" id="{4420C60A-7AF3-3914-5E96-218A4D94B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0615" y="5015434"/>
            <a:ext cx="610324" cy="610324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390B2294-D677-3DE7-2585-F169DD7E3354}"/>
              </a:ext>
            </a:extLst>
          </p:cNvPr>
          <p:cNvSpPr txBox="1">
            <a:spLocks/>
          </p:cNvSpPr>
          <p:nvPr/>
        </p:nvSpPr>
        <p:spPr>
          <a:xfrm>
            <a:off x="9482866" y="4809077"/>
            <a:ext cx="1737885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96800"/>
                </a:solidFill>
              </a:rPr>
              <a:t>87.64%</a:t>
            </a:r>
            <a:endParaRPr lang="en-PH" sz="3600" b="1" dirty="0">
              <a:solidFill>
                <a:srgbClr val="F96800"/>
              </a:solidFill>
            </a:endParaRP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9791F120-931B-8C0F-31B8-329F120C9B71}"/>
              </a:ext>
            </a:extLst>
          </p:cNvPr>
          <p:cNvSpPr txBox="1">
            <a:spLocks/>
          </p:cNvSpPr>
          <p:nvPr/>
        </p:nvSpPr>
        <p:spPr>
          <a:xfrm>
            <a:off x="7067412" y="5066219"/>
            <a:ext cx="148222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of customers</a:t>
            </a:r>
            <a:endParaRPr lang="en-PH" sz="1600" b="1" dirty="0">
              <a:solidFill>
                <a:srgbClr val="061946"/>
              </a:solidFill>
            </a:endParaRP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F5842B99-5DAC-8D8B-39FD-38338B3818B7}"/>
              </a:ext>
            </a:extLst>
          </p:cNvPr>
          <p:cNvSpPr txBox="1">
            <a:spLocks/>
          </p:cNvSpPr>
          <p:nvPr/>
        </p:nvSpPr>
        <p:spPr>
          <a:xfrm>
            <a:off x="9610694" y="5049121"/>
            <a:ext cx="148222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061946"/>
                </a:solidFill>
              </a:rPr>
              <a:t>of customers</a:t>
            </a:r>
            <a:endParaRPr lang="en-PH" sz="1600" b="1" dirty="0">
              <a:solidFill>
                <a:srgbClr val="061946"/>
              </a:solidFill>
            </a:endParaRPr>
          </a:p>
        </p:txBody>
      </p:sp>
      <p:pic>
        <p:nvPicPr>
          <p:cNvPr id="58" name="Graphic 57" descr="Chevron arrows with solid fill">
            <a:extLst>
              <a:ext uri="{FF2B5EF4-FFF2-40B4-BE49-F238E27FC236}">
                <a16:creationId xmlns:a16="http://schemas.microsoft.com/office/drawing/2014/main" id="{4D70344E-67D0-314E-3438-E05FCBDBA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1660" y="4842764"/>
            <a:ext cx="413645" cy="413645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5E63925-8587-6865-EE03-FD2A81053734}"/>
              </a:ext>
            </a:extLst>
          </p:cNvPr>
          <p:cNvCxnSpPr/>
          <p:nvPr/>
        </p:nvCxnSpPr>
        <p:spPr>
          <a:xfrm>
            <a:off x="6696075" y="4869604"/>
            <a:ext cx="0" cy="8664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CEE6E4E-4858-EFBC-F70B-737CBAED1E93}"/>
              </a:ext>
            </a:extLst>
          </p:cNvPr>
          <p:cNvCxnSpPr>
            <a:cxnSpLocks/>
          </p:cNvCxnSpPr>
          <p:nvPr/>
        </p:nvCxnSpPr>
        <p:spPr>
          <a:xfrm>
            <a:off x="1942219" y="6118215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B67E54A-A1AF-6E1C-1D7F-60587FC15CD5}"/>
              </a:ext>
            </a:extLst>
          </p:cNvPr>
          <p:cNvCxnSpPr>
            <a:cxnSpLocks/>
          </p:cNvCxnSpPr>
          <p:nvPr/>
        </p:nvCxnSpPr>
        <p:spPr>
          <a:xfrm>
            <a:off x="4199644" y="6126826"/>
            <a:ext cx="0" cy="516159"/>
          </a:xfrm>
          <a:prstGeom prst="line">
            <a:avLst/>
          </a:prstGeom>
          <a:ln>
            <a:solidFill>
              <a:srgbClr val="1C605A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7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C31A0-DC6B-FA67-8A37-F5824BAA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53173A-EC1D-12F3-331F-B0FADFDE4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D8CAD5-6C18-278B-E77D-40DA5ABA2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5A288A-02B3-662B-52ED-86EE842D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0654F5-D59B-1813-4F36-FD57EF3E8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EB0068-4BC8-0F0F-E7E3-D51BE85F6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13565-1151-FCF3-A86C-39196D79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99" y="0"/>
            <a:ext cx="4716781" cy="8230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10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| Key Findings</a:t>
            </a:r>
            <a:endParaRPr lang="en-PH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A63C8B-9266-9FE8-A3E4-5421F152F964}"/>
              </a:ext>
            </a:extLst>
          </p:cNvPr>
          <p:cNvSpPr txBox="1">
            <a:spLocks/>
          </p:cNvSpPr>
          <p:nvPr/>
        </p:nvSpPr>
        <p:spPr>
          <a:xfrm>
            <a:off x="9290045" y="127237"/>
            <a:ext cx="2901951" cy="540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Customer Segmentation</a:t>
            </a:r>
          </a:p>
          <a:p>
            <a:pPr algn="r"/>
            <a:r>
              <a:rPr lang="en-US" sz="1050" dirty="0">
                <a:solidFill>
                  <a:schemeClr val="bg2">
                    <a:lumMod val="90000"/>
                  </a:schemeClr>
                </a:solidFill>
              </a:rPr>
              <a:t>Using RFM Analysis and K-Means Clustering</a:t>
            </a:r>
            <a:endParaRPr lang="en-PH" sz="10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71C903-0CB8-5F22-FD4C-2F1FC81690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48892"/>
            <a:ext cx="12192000" cy="1470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20AF06-6F7D-C49B-CCC6-17A635B289AC}"/>
              </a:ext>
            </a:extLst>
          </p:cNvPr>
          <p:cNvSpPr txBox="1">
            <a:spLocks/>
          </p:cNvSpPr>
          <p:nvPr/>
        </p:nvSpPr>
        <p:spPr>
          <a:xfrm>
            <a:off x="164670" y="795370"/>
            <a:ext cx="8665005" cy="638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Findings &amp; Business Implications</a:t>
            </a:r>
            <a:endParaRPr lang="en-PH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313B3A-4BDA-AF7F-7115-B93469A2F95E}"/>
              </a:ext>
            </a:extLst>
          </p:cNvPr>
          <p:cNvSpPr txBox="1">
            <a:spLocks/>
          </p:cNvSpPr>
          <p:nvPr/>
        </p:nvSpPr>
        <p:spPr>
          <a:xfrm>
            <a:off x="190499" y="1164652"/>
            <a:ext cx="6699691" cy="529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 what did the model teach us, and how could the business use it?</a:t>
            </a:r>
            <a:endParaRPr lang="en-PH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B66A4E-DD33-7E7B-A226-3A6D66BFB4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86" y="1886240"/>
            <a:ext cx="5905501" cy="4104985"/>
          </a:xfrm>
          <a:prstGeom prst="roundRect">
            <a:avLst/>
          </a:prstGeom>
          <a:solidFill>
            <a:srgbClr val="EBF2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DD6D35AC-7C0C-05FF-274F-899235264B23}"/>
              </a:ext>
            </a:extLst>
          </p:cNvPr>
          <p:cNvSpPr/>
          <p:nvPr/>
        </p:nvSpPr>
        <p:spPr>
          <a:xfrm>
            <a:off x="586309" y="1775543"/>
            <a:ext cx="1396881" cy="312313"/>
          </a:xfrm>
          <a:prstGeom prst="snip1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Key Findings</a:t>
            </a:r>
            <a:endParaRPr lang="en-PH" sz="1400" b="1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B32788-6AB4-5F62-FDAB-396176B6C3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8163" y="1864163"/>
            <a:ext cx="5905501" cy="4104985"/>
          </a:xfrm>
          <a:prstGeom prst="roundRect">
            <a:avLst/>
          </a:prstGeom>
          <a:solidFill>
            <a:srgbClr val="EBF2F8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F817528C-1094-E80A-20F2-83FE3CE88B79}"/>
              </a:ext>
            </a:extLst>
          </p:cNvPr>
          <p:cNvSpPr/>
          <p:nvPr/>
        </p:nvSpPr>
        <p:spPr>
          <a:xfrm>
            <a:off x="6652972" y="1775543"/>
            <a:ext cx="2176703" cy="312313"/>
          </a:xfrm>
          <a:prstGeom prst="snip1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/>
              <a:t>Business Implications</a:t>
            </a:r>
            <a:endParaRPr lang="en-PH" sz="14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DFEFEA-2BEB-41F5-5ABE-46FB4EB40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1273" y="2266030"/>
            <a:ext cx="5572125" cy="1039145"/>
          </a:xfrm>
          <a:prstGeom prst="round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68B4EC1-515F-4B22-676F-C20B8D8B34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1273" y="3419159"/>
            <a:ext cx="5572125" cy="1039145"/>
          </a:xfrm>
          <a:prstGeom prst="round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38A90E-9275-2E91-446C-804C503A62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1272" y="4569001"/>
            <a:ext cx="5572125" cy="1039145"/>
          </a:xfrm>
          <a:prstGeom prst="round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6DCB85EE-A4B1-A42F-F802-9364A4738898}"/>
              </a:ext>
            </a:extLst>
          </p:cNvPr>
          <p:cNvSpPr/>
          <p:nvPr/>
        </p:nvSpPr>
        <p:spPr>
          <a:xfrm>
            <a:off x="459350" y="2289453"/>
            <a:ext cx="616975" cy="577833"/>
          </a:xfrm>
          <a:prstGeom prst="flowChartConnector">
            <a:avLst/>
          </a:prstGeom>
          <a:solidFill>
            <a:srgbClr val="5E9EEC"/>
          </a:solidFill>
          <a:ln>
            <a:solidFill>
              <a:srgbClr val="5D9F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01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226A8F7E-C409-0BEE-60B7-A6237240286F}"/>
              </a:ext>
            </a:extLst>
          </p:cNvPr>
          <p:cNvSpPr/>
          <p:nvPr/>
        </p:nvSpPr>
        <p:spPr>
          <a:xfrm>
            <a:off x="459349" y="3483378"/>
            <a:ext cx="616975" cy="577833"/>
          </a:xfrm>
          <a:prstGeom prst="flowChartConnector">
            <a:avLst/>
          </a:prstGeom>
          <a:solidFill>
            <a:srgbClr val="5E9EEC"/>
          </a:solidFill>
          <a:ln>
            <a:solidFill>
              <a:srgbClr val="5D9F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02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9D092490-129A-398E-C3D6-B4C64C6A4B0E}"/>
              </a:ext>
            </a:extLst>
          </p:cNvPr>
          <p:cNvSpPr/>
          <p:nvPr/>
        </p:nvSpPr>
        <p:spPr>
          <a:xfrm>
            <a:off x="459348" y="4612946"/>
            <a:ext cx="616975" cy="577833"/>
          </a:xfrm>
          <a:prstGeom prst="flowChartConnector">
            <a:avLst/>
          </a:prstGeom>
          <a:solidFill>
            <a:srgbClr val="5E9EEC"/>
          </a:solidFill>
          <a:ln>
            <a:solidFill>
              <a:srgbClr val="5D9F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b="1" dirty="0"/>
              <a:t>03</a:t>
            </a:r>
          </a:p>
        </p:txBody>
      </p:sp>
      <p:pic>
        <p:nvPicPr>
          <p:cNvPr id="41" name="Graphic 40" descr="Connected with solid fill">
            <a:extLst>
              <a:ext uri="{FF2B5EF4-FFF2-40B4-BE49-F238E27FC236}">
                <a16:creationId xmlns:a16="http://schemas.microsoft.com/office/drawing/2014/main" id="{546EAA04-D90D-F733-47C3-031FEA24E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685" y="5190779"/>
            <a:ext cx="457200" cy="457200"/>
          </a:xfrm>
          <a:prstGeom prst="rect">
            <a:avLst/>
          </a:prstGeom>
        </p:spPr>
      </p:pic>
      <p:pic>
        <p:nvPicPr>
          <p:cNvPr id="43" name="Graphic 42" descr="Single gear with solid fill">
            <a:extLst>
              <a:ext uri="{FF2B5EF4-FFF2-40B4-BE49-F238E27FC236}">
                <a16:creationId xmlns:a16="http://schemas.microsoft.com/office/drawing/2014/main" id="{AFBEF329-EC8F-3B98-57F5-7FF64EF387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589" y="4049024"/>
            <a:ext cx="457200" cy="457200"/>
          </a:xfrm>
          <a:prstGeom prst="rect">
            <a:avLst/>
          </a:prstGeom>
        </p:spPr>
      </p:pic>
      <p:pic>
        <p:nvPicPr>
          <p:cNvPr id="45" name="Graphic 44" descr="Signal with solid fill">
            <a:extLst>
              <a:ext uri="{FF2B5EF4-FFF2-40B4-BE49-F238E27FC236}">
                <a16:creationId xmlns:a16="http://schemas.microsoft.com/office/drawing/2014/main" id="{CFCB704C-1CEF-FD6C-07A9-75D49F06C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685" y="2832419"/>
            <a:ext cx="457200" cy="4572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D7B87D3-122B-0C16-F6C3-8655293FD99B}"/>
              </a:ext>
            </a:extLst>
          </p:cNvPr>
          <p:cNvCxnSpPr>
            <a:cxnSpLocks/>
          </p:cNvCxnSpPr>
          <p:nvPr/>
        </p:nvCxnSpPr>
        <p:spPr>
          <a:xfrm>
            <a:off x="1323094" y="2351127"/>
            <a:ext cx="0" cy="801648"/>
          </a:xfrm>
          <a:prstGeom prst="line">
            <a:avLst/>
          </a:prstGeom>
          <a:ln>
            <a:solidFill>
              <a:srgbClr val="97B8E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77582A-09E6-DEDC-AB4F-99A8EE75EFF9}"/>
              </a:ext>
            </a:extLst>
          </p:cNvPr>
          <p:cNvCxnSpPr>
            <a:cxnSpLocks/>
          </p:cNvCxnSpPr>
          <p:nvPr/>
        </p:nvCxnSpPr>
        <p:spPr>
          <a:xfrm>
            <a:off x="1323094" y="3570327"/>
            <a:ext cx="0" cy="801648"/>
          </a:xfrm>
          <a:prstGeom prst="line">
            <a:avLst/>
          </a:prstGeom>
          <a:ln>
            <a:solidFill>
              <a:srgbClr val="97B8E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6C3AAB7-A872-189B-458D-3777D736BF0E}"/>
              </a:ext>
            </a:extLst>
          </p:cNvPr>
          <p:cNvCxnSpPr>
            <a:cxnSpLocks/>
          </p:cNvCxnSpPr>
          <p:nvPr/>
        </p:nvCxnSpPr>
        <p:spPr>
          <a:xfrm>
            <a:off x="1323094" y="4669166"/>
            <a:ext cx="0" cy="801648"/>
          </a:xfrm>
          <a:prstGeom prst="line">
            <a:avLst/>
          </a:prstGeom>
          <a:ln>
            <a:solidFill>
              <a:srgbClr val="97B8E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itle 1">
            <a:extLst>
              <a:ext uri="{FF2B5EF4-FFF2-40B4-BE49-F238E27FC236}">
                <a16:creationId xmlns:a16="http://schemas.microsoft.com/office/drawing/2014/main" id="{B457655D-5E27-782F-C929-169ECB877E13}"/>
              </a:ext>
            </a:extLst>
          </p:cNvPr>
          <p:cNvSpPr txBox="1">
            <a:spLocks/>
          </p:cNvSpPr>
          <p:nvPr/>
        </p:nvSpPr>
        <p:spPr>
          <a:xfrm>
            <a:off x="1414533" y="2383353"/>
            <a:ext cx="4329040" cy="80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Customer value is concentrated 41.93% of customers account for 87.64% of total monetary value.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shows that customer contribution is highly uneven across the customer base.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5BD7892-6FD4-DA13-3669-9A021172B260}"/>
              </a:ext>
            </a:extLst>
          </p:cNvPr>
          <p:cNvSpPr txBox="1">
            <a:spLocks/>
          </p:cNvSpPr>
          <p:nvPr/>
        </p:nvSpPr>
        <p:spPr>
          <a:xfrm>
            <a:off x="1414533" y="3516674"/>
            <a:ext cx="4329040" cy="80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Frequency is the strongest separator: Among the three RFM variables, Frequency had the largest cluster separation, followed by monetary then recency.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indicates that purchasing frequency is important in comparing the two segments.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B9E520B-5EF9-6C11-8E39-F8631FA67603}"/>
              </a:ext>
            </a:extLst>
          </p:cNvPr>
          <p:cNvSpPr txBox="1">
            <a:spLocks/>
          </p:cNvSpPr>
          <p:nvPr/>
        </p:nvSpPr>
        <p:spPr>
          <a:xfrm>
            <a:off x="1414532" y="4684585"/>
            <a:ext cx="4329040" cy="80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segmentation is stable: The K-Means solution produced very similar silhouette scores across multiple random seeds: ~0.4328 – 0.4329</a:t>
            </a:r>
          </a:p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supports the reproducibility of the segmentation.</a:t>
            </a:r>
            <a:endParaRPr lang="en-PH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3F842A5-C0C7-F869-ED83-F3636A8B6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64850" y="2219553"/>
            <a:ext cx="5572125" cy="1761898"/>
          </a:xfrm>
          <a:prstGeom prst="round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0F62077-7669-7C4A-0099-699F109AEB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64850" y="4049024"/>
            <a:ext cx="5572125" cy="1761898"/>
          </a:xfrm>
          <a:prstGeom prst="roundRect">
            <a:avLst/>
          </a:prstGeom>
          <a:solidFill>
            <a:srgbClr val="F6F8F9"/>
          </a:solidFill>
          <a:ln>
            <a:solidFill>
              <a:srgbClr val="F6F8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AB5F473D-2B47-2C2A-381C-48CDB9CACFB9}"/>
              </a:ext>
            </a:extLst>
          </p:cNvPr>
          <p:cNvSpPr/>
          <p:nvPr/>
        </p:nvSpPr>
        <p:spPr>
          <a:xfrm>
            <a:off x="6459735" y="2338477"/>
            <a:ext cx="914400" cy="914400"/>
          </a:xfrm>
          <a:prstGeom prst="flowChartConnector">
            <a:avLst/>
          </a:prstGeom>
          <a:solidFill>
            <a:srgbClr val="DAE8F8"/>
          </a:solidFill>
          <a:ln>
            <a:solidFill>
              <a:srgbClr val="DA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59" name="Graphic 58" descr="Users with solid fill">
            <a:extLst>
              <a:ext uri="{FF2B5EF4-FFF2-40B4-BE49-F238E27FC236}">
                <a16:creationId xmlns:a16="http://schemas.microsoft.com/office/drawing/2014/main" id="{FC17ED31-67D4-B92F-7F22-6F1BD275D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9735" y="2338477"/>
            <a:ext cx="914400" cy="914400"/>
          </a:xfrm>
          <a:prstGeom prst="rect">
            <a:avLst/>
          </a:prstGeom>
        </p:spPr>
      </p:pic>
      <p:sp>
        <p:nvSpPr>
          <p:cNvPr id="67" name="Title 1">
            <a:extLst>
              <a:ext uri="{FF2B5EF4-FFF2-40B4-BE49-F238E27FC236}">
                <a16:creationId xmlns:a16="http://schemas.microsoft.com/office/drawing/2014/main" id="{714A6EA4-1A68-58E4-C446-06714A230E1B}"/>
              </a:ext>
            </a:extLst>
          </p:cNvPr>
          <p:cNvSpPr txBox="1">
            <a:spLocks/>
          </p:cNvSpPr>
          <p:nvPr/>
        </p:nvSpPr>
        <p:spPr>
          <a:xfrm>
            <a:off x="7469020" y="2338477"/>
            <a:ext cx="4329040" cy="80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14CC8"/>
                </a:solidFill>
              </a:rPr>
              <a:t>Higher-Engagement Customers</a:t>
            </a:r>
          </a:p>
          <a:p>
            <a:r>
              <a:rPr lang="en-US" sz="1400" b="1" dirty="0">
                <a:solidFill>
                  <a:srgbClr val="3955AC"/>
                </a:solidFill>
              </a:rPr>
              <a:t>41.93% of customers | 87.64% of monetary value</a:t>
            </a:r>
            <a:endParaRPr lang="en-PH" sz="1400" dirty="0">
              <a:solidFill>
                <a:srgbClr val="3955AC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416679E-5DF1-486B-E309-57BA4016E861}"/>
              </a:ext>
            </a:extLst>
          </p:cNvPr>
          <p:cNvCxnSpPr>
            <a:cxnSpLocks/>
          </p:cNvCxnSpPr>
          <p:nvPr/>
        </p:nvCxnSpPr>
        <p:spPr>
          <a:xfrm>
            <a:off x="7571494" y="2957955"/>
            <a:ext cx="4161156" cy="0"/>
          </a:xfrm>
          <a:prstGeom prst="line">
            <a:avLst/>
          </a:prstGeom>
          <a:ln>
            <a:solidFill>
              <a:srgbClr val="97B8E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DDE8EDF-CF4D-8A47-89AE-A530398F0039}"/>
              </a:ext>
            </a:extLst>
          </p:cNvPr>
          <p:cNvSpPr/>
          <p:nvPr/>
        </p:nvSpPr>
        <p:spPr>
          <a:xfrm>
            <a:off x="7557203" y="3056209"/>
            <a:ext cx="4161156" cy="843834"/>
          </a:xfrm>
          <a:prstGeom prst="roundRect">
            <a:avLst/>
          </a:prstGeom>
          <a:solidFill>
            <a:srgbClr val="E4EFFC"/>
          </a:solidFill>
          <a:ln>
            <a:solidFill>
              <a:srgbClr val="E4EF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PH" sz="1050" dirty="0">
              <a:solidFill>
                <a:srgbClr val="3955AC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EC9538-E15F-AB0A-4F93-E3BB37E630C6}"/>
              </a:ext>
            </a:extLst>
          </p:cNvPr>
          <p:cNvSpPr txBox="1"/>
          <p:nvPr/>
        </p:nvSpPr>
        <p:spPr>
          <a:xfrm>
            <a:off x="7635767" y="3020584"/>
            <a:ext cx="3651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 dirty="0">
                <a:solidFill>
                  <a:srgbClr val="014BC8"/>
                </a:solidFill>
              </a:rPr>
              <a:t>Potential Strategies: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4E64A6"/>
                </a:solidFill>
              </a:rPr>
              <a:t>Customer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4E64A6"/>
                </a:solidFill>
              </a:rPr>
              <a:t>Loyalty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4E64A6"/>
                </a:solidFill>
              </a:rPr>
              <a:t>Personalized offers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4E64A6"/>
                </a:solidFill>
              </a:rPr>
              <a:t>Cross-selling and upselling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4E64A6"/>
                </a:solidFill>
              </a:rPr>
              <a:t>Priority customer treatment</a:t>
            </a:r>
          </a:p>
        </p:txBody>
      </p:sp>
      <p:sp>
        <p:nvSpPr>
          <p:cNvPr id="81" name="Flowchart: Connector 80">
            <a:extLst>
              <a:ext uri="{FF2B5EF4-FFF2-40B4-BE49-F238E27FC236}">
                <a16:creationId xmlns:a16="http://schemas.microsoft.com/office/drawing/2014/main" id="{0CF10CCC-9170-521A-299F-EB5512A82D6E}"/>
              </a:ext>
            </a:extLst>
          </p:cNvPr>
          <p:cNvSpPr/>
          <p:nvPr/>
        </p:nvSpPr>
        <p:spPr>
          <a:xfrm>
            <a:off x="6459735" y="4138713"/>
            <a:ext cx="914400" cy="914400"/>
          </a:xfrm>
          <a:prstGeom prst="flowChartConnector">
            <a:avLst/>
          </a:prstGeom>
          <a:solidFill>
            <a:srgbClr val="E8EAF3"/>
          </a:solidFill>
          <a:ln>
            <a:solidFill>
              <a:srgbClr val="DAE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pic>
        <p:nvPicPr>
          <p:cNvPr id="83" name="Graphic 82" descr="Users with solid fill">
            <a:extLst>
              <a:ext uri="{FF2B5EF4-FFF2-40B4-BE49-F238E27FC236}">
                <a16:creationId xmlns:a16="http://schemas.microsoft.com/office/drawing/2014/main" id="{1BD3467D-43B4-12F9-458E-78F174A34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9735" y="4138713"/>
            <a:ext cx="914400" cy="914400"/>
          </a:xfrm>
          <a:prstGeom prst="rect">
            <a:avLst/>
          </a:prstGeom>
        </p:spPr>
      </p:pic>
      <p:sp>
        <p:nvSpPr>
          <p:cNvPr id="85" name="Title 1">
            <a:extLst>
              <a:ext uri="{FF2B5EF4-FFF2-40B4-BE49-F238E27FC236}">
                <a16:creationId xmlns:a16="http://schemas.microsoft.com/office/drawing/2014/main" id="{B45AFEF0-A076-241C-19B0-52277C4869D1}"/>
              </a:ext>
            </a:extLst>
          </p:cNvPr>
          <p:cNvSpPr txBox="1">
            <a:spLocks/>
          </p:cNvSpPr>
          <p:nvPr/>
        </p:nvSpPr>
        <p:spPr>
          <a:xfrm>
            <a:off x="7469020" y="4138713"/>
            <a:ext cx="4329040" cy="80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486182"/>
                </a:solidFill>
              </a:rPr>
              <a:t>Lower-Engagement Customers</a:t>
            </a:r>
          </a:p>
          <a:p>
            <a:r>
              <a:rPr lang="en-US" sz="1400" b="1" dirty="0">
                <a:solidFill>
                  <a:srgbClr val="617096"/>
                </a:solidFill>
              </a:rPr>
              <a:t>58.07% of customers | 12.36% of monetary value</a:t>
            </a:r>
            <a:endParaRPr lang="en-PH" sz="1400" dirty="0">
              <a:solidFill>
                <a:srgbClr val="617096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518D69E-7C62-DE15-02E1-421D496A7621}"/>
              </a:ext>
            </a:extLst>
          </p:cNvPr>
          <p:cNvCxnSpPr>
            <a:cxnSpLocks/>
          </p:cNvCxnSpPr>
          <p:nvPr/>
        </p:nvCxnSpPr>
        <p:spPr>
          <a:xfrm>
            <a:off x="7557203" y="4786755"/>
            <a:ext cx="4161156" cy="0"/>
          </a:xfrm>
          <a:prstGeom prst="line">
            <a:avLst/>
          </a:prstGeom>
          <a:ln>
            <a:solidFill>
              <a:srgbClr val="97B8E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C5B7E07-14A9-F0F9-6227-56854BBBB7FA}"/>
              </a:ext>
            </a:extLst>
          </p:cNvPr>
          <p:cNvSpPr/>
          <p:nvPr/>
        </p:nvSpPr>
        <p:spPr>
          <a:xfrm>
            <a:off x="7535297" y="4875376"/>
            <a:ext cx="4161156" cy="843834"/>
          </a:xfrm>
          <a:prstGeom prst="roundRect">
            <a:avLst/>
          </a:prstGeom>
          <a:solidFill>
            <a:srgbClr val="ECEEF5"/>
          </a:solidFill>
          <a:ln>
            <a:solidFill>
              <a:srgbClr val="ECEE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PH" sz="1050" dirty="0">
              <a:solidFill>
                <a:srgbClr val="3955AC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03FEF8A-BC1D-BF93-F02F-CDBC3E535DD4}"/>
              </a:ext>
            </a:extLst>
          </p:cNvPr>
          <p:cNvSpPr txBox="1"/>
          <p:nvPr/>
        </p:nvSpPr>
        <p:spPr>
          <a:xfrm>
            <a:off x="7626240" y="4789155"/>
            <a:ext cx="3651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900" b="1" dirty="0">
                <a:solidFill>
                  <a:srgbClr val="2A3B56"/>
                </a:solidFill>
              </a:rPr>
              <a:t>Potential Strategies: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788691"/>
                </a:solidFill>
              </a:rPr>
              <a:t>Win-back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788691"/>
                </a:solidFill>
              </a:rPr>
              <a:t>Re-engagement communications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788691"/>
                </a:solidFill>
              </a:rPr>
              <a:t>Targeted promotions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788691"/>
                </a:solidFill>
              </a:rPr>
              <a:t>Personalized product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H" sz="900" b="1" dirty="0">
                <a:solidFill>
                  <a:srgbClr val="788691"/>
                </a:solidFill>
              </a:rPr>
              <a:t>Identify opportunities to increase purchase frequency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08D91CE-2751-BAAA-8C45-84ED79686959}"/>
              </a:ext>
            </a:extLst>
          </p:cNvPr>
          <p:cNvSpPr>
            <a:spLocks/>
          </p:cNvSpPr>
          <p:nvPr/>
        </p:nvSpPr>
        <p:spPr>
          <a:xfrm>
            <a:off x="660273" y="6060455"/>
            <a:ext cx="10986411" cy="701034"/>
          </a:xfrm>
          <a:prstGeom prst="roundRect">
            <a:avLst/>
          </a:prstGeom>
          <a:solidFill>
            <a:srgbClr val="09284C"/>
          </a:solidFill>
          <a:ln>
            <a:solidFill>
              <a:srgbClr val="EFF7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94" name="Title 1">
            <a:extLst>
              <a:ext uri="{FF2B5EF4-FFF2-40B4-BE49-F238E27FC236}">
                <a16:creationId xmlns:a16="http://schemas.microsoft.com/office/drawing/2014/main" id="{20B8AA9E-4808-3F18-C4B4-8CE2E47FEBD4}"/>
              </a:ext>
            </a:extLst>
          </p:cNvPr>
          <p:cNvSpPr txBox="1">
            <a:spLocks/>
          </p:cNvSpPr>
          <p:nvPr/>
        </p:nvSpPr>
        <p:spPr>
          <a:xfrm>
            <a:off x="1695466" y="6209274"/>
            <a:ext cx="1514457" cy="412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FCFDF8"/>
                </a:solidFill>
              </a:rPr>
              <a:t>Key Takeaway</a:t>
            </a:r>
            <a:endParaRPr lang="en-PH" sz="1600" b="1" dirty="0">
              <a:solidFill>
                <a:srgbClr val="FCFDF8"/>
              </a:solidFill>
            </a:endParaRP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C6008D5D-D558-DB2F-CC1A-3C1E612AB01B}"/>
              </a:ext>
            </a:extLst>
          </p:cNvPr>
          <p:cNvSpPr txBox="1">
            <a:spLocks/>
          </p:cNvSpPr>
          <p:nvPr/>
        </p:nvSpPr>
        <p:spPr>
          <a:xfrm>
            <a:off x="3371085" y="6062630"/>
            <a:ext cx="8426975" cy="64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FCFDF8"/>
                </a:solidFill>
              </a:rPr>
              <a:t>RFM + K-Means provides an interpretable framework for differentiating customers based on engagement and purchasing value. </a:t>
            </a:r>
            <a:endParaRPr lang="en-PH" sz="1600" b="1" dirty="0">
              <a:solidFill>
                <a:srgbClr val="FCFDF8"/>
              </a:solidFill>
            </a:endParaRP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D7FF1711-B633-115F-EDEA-AD3E64D8FA88}"/>
              </a:ext>
            </a:extLst>
          </p:cNvPr>
          <p:cNvSpPr/>
          <p:nvPr/>
        </p:nvSpPr>
        <p:spPr>
          <a:xfrm>
            <a:off x="923469" y="6121281"/>
            <a:ext cx="599775" cy="588702"/>
          </a:xfrm>
          <a:prstGeom prst="flowChartConnector">
            <a:avLst/>
          </a:prstGeom>
          <a:solidFill>
            <a:srgbClr val="1D5399"/>
          </a:solidFill>
          <a:ln>
            <a:solidFill>
              <a:srgbClr val="1D5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A653A19-0AA8-01C4-95E3-8A980846AB10}"/>
              </a:ext>
            </a:extLst>
          </p:cNvPr>
          <p:cNvCxnSpPr>
            <a:cxnSpLocks/>
          </p:cNvCxnSpPr>
          <p:nvPr/>
        </p:nvCxnSpPr>
        <p:spPr>
          <a:xfrm>
            <a:off x="1669042" y="6148941"/>
            <a:ext cx="0" cy="516159"/>
          </a:xfrm>
          <a:prstGeom prst="line">
            <a:avLst/>
          </a:prstGeom>
          <a:ln>
            <a:solidFill>
              <a:srgbClr val="1D539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DD0D39E-3DD7-08E0-ADAD-BA5C492DBAA9}"/>
              </a:ext>
            </a:extLst>
          </p:cNvPr>
          <p:cNvCxnSpPr>
            <a:cxnSpLocks/>
          </p:cNvCxnSpPr>
          <p:nvPr/>
        </p:nvCxnSpPr>
        <p:spPr>
          <a:xfrm>
            <a:off x="3209923" y="6148941"/>
            <a:ext cx="0" cy="516159"/>
          </a:xfrm>
          <a:prstGeom prst="line">
            <a:avLst/>
          </a:prstGeom>
          <a:ln>
            <a:solidFill>
              <a:srgbClr val="1D539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1" name="Graphic 100" descr="Bullseye with solid fill">
            <a:extLst>
              <a:ext uri="{FF2B5EF4-FFF2-40B4-BE49-F238E27FC236}">
                <a16:creationId xmlns:a16="http://schemas.microsoft.com/office/drawing/2014/main" id="{7DBF3933-135E-FB8C-00D6-49C4455E64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253" y="6161209"/>
            <a:ext cx="511578" cy="51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7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1116</Words>
  <Application>Microsoft Office PowerPoint</Application>
  <PresentationFormat>Widescreen</PresentationFormat>
  <Paragraphs>249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Customer Segmentation  Using RFM Analysis and K-Means Clustering</vt:lpstr>
      <vt:lpstr>02 | Problem &amp; Objective</vt:lpstr>
      <vt:lpstr>03 | Dataset Collection &amp; Understanding</vt:lpstr>
      <vt:lpstr>04 | Data Preprocessing &amp; Quality</vt:lpstr>
      <vt:lpstr>05 | Feature Engineering</vt:lpstr>
      <vt:lpstr>06 | Model Selection</vt:lpstr>
      <vt:lpstr>07 | Final Model</vt:lpstr>
      <vt:lpstr>08 | PCA </vt:lpstr>
      <vt:lpstr>09 | Final Segmentation </vt:lpstr>
      <vt:lpstr>10 | 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Sanchez</dc:creator>
  <cp:lastModifiedBy>Roberto Sanchez</cp:lastModifiedBy>
  <cp:revision>9</cp:revision>
  <dcterms:created xsi:type="dcterms:W3CDTF">2026-09-27T08:17:34Z</dcterms:created>
  <dcterms:modified xsi:type="dcterms:W3CDTF">2026-10-01T05:00:53Z</dcterms:modified>
</cp:coreProperties>
</file>